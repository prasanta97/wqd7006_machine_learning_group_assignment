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21"/>
  </p:notesMasterIdLst>
  <p:handoutMasterIdLst>
    <p:handoutMasterId r:id="rId22"/>
  </p:handoutMasterIdLst>
  <p:sldIdLst>
    <p:sldId id="257" r:id="rId5"/>
    <p:sldId id="394" r:id="rId6"/>
    <p:sldId id="393" r:id="rId7"/>
    <p:sldId id="396" r:id="rId8"/>
    <p:sldId id="409" r:id="rId9"/>
    <p:sldId id="406" r:id="rId10"/>
    <p:sldId id="399" r:id="rId11"/>
    <p:sldId id="400" r:id="rId12"/>
    <p:sldId id="402" r:id="rId13"/>
    <p:sldId id="401" r:id="rId14"/>
    <p:sldId id="407" r:id="rId15"/>
    <p:sldId id="410" r:id="rId16"/>
    <p:sldId id="405" r:id="rId17"/>
    <p:sldId id="398" r:id="rId18"/>
    <p:sldId id="392" r:id="rId19"/>
    <p:sldId id="40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A1FA8B-78B0-4A69-9ED5-161ED271BD92}" v="1106" dt="2022-06-13T09:25:03.559"/>
    <p1510:client id="{C1B279BA-949F-EF4C-84E5-8800E0D9EDED}" v="937" dt="2022-06-13T09:32:42.055"/>
    <p1510:client id="{C5691AC4-10CD-4AB3-8E81-1E452E9D4669}" v="1484" dt="2022-06-12T15:23:35.417"/>
    <p1510:client id="{EF40D90A-6D76-47CD-A6EE-8C64B36462BB}" v="20" dt="2022-06-13T11:23:36.427"/>
    <p1510:client id="{F2EE21D4-458B-49BA-BE26-82E739383689}" v="2" dt="2022-06-13T09:19:06.114"/>
    <p1510:client id="{FB0769BD-0DC9-4437-AE8B-2C52D780C4D1}" v="16" dt="2022-06-12T14:45:20.3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 Lun Khor" userId="273eb791-781a-4548-b006-716511d5b746" providerId="ADAL" clId="{EF40D90A-6D76-47CD-A6EE-8C64B36462BB}"/>
    <pc:docChg chg="custSel modSld">
      <pc:chgData name="Yi Lun Khor" userId="273eb791-781a-4548-b006-716511d5b746" providerId="ADAL" clId="{EF40D90A-6D76-47CD-A6EE-8C64B36462BB}" dt="2022-06-13T11:23:36.427" v="19" actId="14100"/>
      <pc:docMkLst>
        <pc:docMk/>
      </pc:docMkLst>
      <pc:sldChg chg="addSp delSp modSp mod">
        <pc:chgData name="Yi Lun Khor" userId="273eb791-781a-4548-b006-716511d5b746" providerId="ADAL" clId="{EF40D90A-6D76-47CD-A6EE-8C64B36462BB}" dt="2022-06-13T11:23:36.427" v="19" actId="14100"/>
        <pc:sldMkLst>
          <pc:docMk/>
          <pc:sldMk cId="4237967034" sldId="400"/>
        </pc:sldMkLst>
        <pc:spChg chg="add del mod">
          <ac:chgData name="Yi Lun Khor" userId="273eb791-781a-4548-b006-716511d5b746" providerId="ADAL" clId="{EF40D90A-6D76-47CD-A6EE-8C64B36462BB}" dt="2022-06-13T11:23:20.521" v="10"/>
          <ac:spMkLst>
            <pc:docMk/>
            <pc:sldMk cId="4237967034" sldId="400"/>
            <ac:spMk id="3" creationId="{E740718B-518B-ECF2-9335-5717B25251D9}"/>
          </ac:spMkLst>
        </pc:spChg>
        <pc:picChg chg="add mod">
          <ac:chgData name="Yi Lun Khor" userId="273eb791-781a-4548-b006-716511d5b746" providerId="ADAL" clId="{EF40D90A-6D76-47CD-A6EE-8C64B36462BB}" dt="2022-06-13T11:23:36.427" v="19" actId="14100"/>
          <ac:picMkLst>
            <pc:docMk/>
            <pc:sldMk cId="4237967034" sldId="400"/>
            <ac:picMk id="5" creationId="{B8232F70-2341-D78F-5246-DC19A703F7F8}"/>
          </ac:picMkLst>
        </pc:picChg>
        <pc:picChg chg="del">
          <ac:chgData name="Yi Lun Khor" userId="273eb791-781a-4548-b006-716511d5b746" providerId="ADAL" clId="{EF40D90A-6D76-47CD-A6EE-8C64B36462BB}" dt="2022-06-13T11:23:19.703" v="9" actId="478"/>
          <ac:picMkLst>
            <pc:docMk/>
            <pc:sldMk cId="4237967034" sldId="400"/>
            <ac:picMk id="9" creationId="{FDE33CDE-7098-29E4-C3D5-4E34346CE12C}"/>
          </ac:picMkLst>
        </pc:picChg>
      </pc:sldChg>
      <pc:sldChg chg="addSp delSp modSp mod">
        <pc:chgData name="Yi Lun Khor" userId="273eb791-781a-4548-b006-716511d5b746" providerId="ADAL" clId="{EF40D90A-6D76-47CD-A6EE-8C64B36462BB}" dt="2022-06-13T11:22:48.743" v="8" actId="1440"/>
        <pc:sldMkLst>
          <pc:docMk/>
          <pc:sldMk cId="3837715564" sldId="402"/>
        </pc:sldMkLst>
        <pc:spChg chg="add del mod">
          <ac:chgData name="Yi Lun Khor" userId="273eb791-781a-4548-b006-716511d5b746" providerId="ADAL" clId="{EF40D90A-6D76-47CD-A6EE-8C64B36462BB}" dt="2022-06-13T11:22:39.618" v="1"/>
          <ac:spMkLst>
            <pc:docMk/>
            <pc:sldMk cId="3837715564" sldId="402"/>
            <ac:spMk id="3" creationId="{4DEC18EE-DA24-C397-C7A3-B5623B9E110F}"/>
          </ac:spMkLst>
        </pc:spChg>
        <pc:picChg chg="add mod">
          <ac:chgData name="Yi Lun Khor" userId="273eb791-781a-4548-b006-716511d5b746" providerId="ADAL" clId="{EF40D90A-6D76-47CD-A6EE-8C64B36462BB}" dt="2022-06-13T11:22:48.743" v="8" actId="1440"/>
          <ac:picMkLst>
            <pc:docMk/>
            <pc:sldMk cId="3837715564" sldId="402"/>
            <ac:picMk id="5" creationId="{66AC6412-4DDC-4D05-1572-365FAE22200E}"/>
          </ac:picMkLst>
        </pc:picChg>
        <pc:picChg chg="del">
          <ac:chgData name="Yi Lun Khor" userId="273eb791-781a-4548-b006-716511d5b746" providerId="ADAL" clId="{EF40D90A-6D76-47CD-A6EE-8C64B36462BB}" dt="2022-06-13T11:22:38.673" v="0" actId="478"/>
          <ac:picMkLst>
            <pc:docMk/>
            <pc:sldMk cId="3837715564" sldId="402"/>
            <ac:picMk id="8" creationId="{F27F0332-1DCC-2E0B-9B3A-D4D011574CE3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444B57-8BD6-4747-A948-116D62D54FA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00214C-1C63-4083-A1B0-903F6C86F24B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500">
              <a:latin typeface="+mn-lt"/>
            </a:rPr>
            <a:t>The used car market is a growing business with a projection of 480,000 units of used car to be sold in 2022 (</a:t>
          </a:r>
          <a:r>
            <a:rPr lang="en-US" sz="1500" err="1">
              <a:latin typeface="+mn-lt"/>
            </a:rPr>
            <a:t>TheStar</a:t>
          </a:r>
          <a:r>
            <a:rPr lang="en-US" sz="1500">
              <a:latin typeface="+mn-lt"/>
            </a:rPr>
            <a:t>, 2022)</a:t>
          </a:r>
        </a:p>
      </dgm:t>
    </dgm:pt>
    <dgm:pt modelId="{DE1D4751-D5E7-44C9-98C4-6789937EF050}" type="parTrans" cxnId="{1D654419-C3FB-4FC1-8C55-61174E49F6F6}">
      <dgm:prSet/>
      <dgm:spPr/>
      <dgm:t>
        <a:bodyPr/>
        <a:lstStyle/>
        <a:p>
          <a:endParaRPr lang="en-US"/>
        </a:p>
      </dgm:t>
    </dgm:pt>
    <dgm:pt modelId="{68A8125E-0144-4B82-A252-E8D7BD3CF96F}" type="sibTrans" cxnId="{1D654419-C3FB-4FC1-8C55-61174E49F6F6}">
      <dgm:prSet/>
      <dgm:spPr/>
      <dgm:t>
        <a:bodyPr/>
        <a:lstStyle/>
        <a:p>
          <a:endParaRPr lang="en-US"/>
        </a:p>
      </dgm:t>
    </dgm:pt>
    <dgm:pt modelId="{B74815BD-64B2-4625-A1A0-B1264E2355F7}">
      <dgm:prSet custT="1"/>
      <dgm:spPr/>
      <dgm:t>
        <a:bodyPr/>
        <a:lstStyle/>
        <a:p>
          <a:pPr rtl="0">
            <a:lnSpc>
              <a:spcPct val="100000"/>
            </a:lnSpc>
            <a:defRPr cap="all"/>
          </a:pPr>
          <a:r>
            <a:rPr lang="en-US" sz="1400">
              <a:latin typeface="+mn-lt"/>
            </a:rPr>
            <a:t>Buying used cars is commonly an alternative option for the car purchasers if their budgets are insufficient for a new car, due to high cost of new cars </a:t>
          </a:r>
          <a:r>
            <a:rPr lang="en-US" sz="1400"/>
            <a:t>(Blanco, 2022)</a:t>
          </a:r>
          <a:r>
            <a:rPr lang="en-US" sz="1400">
              <a:latin typeface="+mn-lt"/>
            </a:rPr>
            <a:t>, which is almost twice as much compared to a used car.</a:t>
          </a:r>
          <a:endParaRPr lang="en-MY" sz="1400">
            <a:latin typeface="+mn-lt"/>
          </a:endParaRPr>
        </a:p>
      </dgm:t>
    </dgm:pt>
    <dgm:pt modelId="{3847B2B7-EA15-48D3-8C36-A1EAEA056700}" type="parTrans" cxnId="{916009F3-E892-4FD5-B260-29B5E3684B26}">
      <dgm:prSet/>
      <dgm:spPr/>
      <dgm:t>
        <a:bodyPr/>
        <a:lstStyle/>
        <a:p>
          <a:endParaRPr lang="en-US"/>
        </a:p>
      </dgm:t>
    </dgm:pt>
    <dgm:pt modelId="{EE0E9017-7D9E-411B-B14A-B0AAEB81D6F4}" type="sibTrans" cxnId="{916009F3-E892-4FD5-B260-29B5E3684B26}">
      <dgm:prSet/>
      <dgm:spPr/>
      <dgm:t>
        <a:bodyPr/>
        <a:lstStyle/>
        <a:p>
          <a:endParaRPr lang="en-US"/>
        </a:p>
      </dgm:t>
    </dgm:pt>
    <dgm:pt modelId="{B66AFCA2-FA14-4140-AABD-134DFBB362BF}" type="pres">
      <dgm:prSet presAssocID="{32444B57-8BD6-4747-A948-116D62D54FA3}" presName="root" presStyleCnt="0">
        <dgm:presLayoutVars>
          <dgm:dir/>
          <dgm:resizeHandles val="exact"/>
        </dgm:presLayoutVars>
      </dgm:prSet>
      <dgm:spPr/>
    </dgm:pt>
    <dgm:pt modelId="{90CD99B2-9332-4840-9BF6-9A409D2AA6FF}" type="pres">
      <dgm:prSet presAssocID="{2800214C-1C63-4083-A1B0-903F6C86F24B}" presName="compNode" presStyleCnt="0"/>
      <dgm:spPr/>
    </dgm:pt>
    <dgm:pt modelId="{4738E840-71F0-4793-81B1-38BE5E31BE45}" type="pres">
      <dgm:prSet presAssocID="{2800214C-1C63-4083-A1B0-903F6C86F24B}" presName="iconBgRect" presStyleLbl="bgShp" presStyleIdx="0" presStyleCnt="2" custScaleX="82645" custScaleY="82645" custLinFactNeighborX="2670" custLinFactNeighborY="-10744"/>
      <dgm:spPr/>
    </dgm:pt>
    <dgm:pt modelId="{B7B9A424-A9D9-47E0-8B7C-0D90664A498A}" type="pres">
      <dgm:prSet presAssocID="{2800214C-1C63-4083-A1B0-903F6C86F24B}" presName="iconRect" presStyleLbl="node1" presStyleIdx="0" presStyleCnt="2" custScaleX="82645" custScaleY="82645" custLinFactNeighborX="4653" custLinFactNeighborY="-1872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19710AAA-AB8C-4FCD-9790-BACE85A7E127}" type="pres">
      <dgm:prSet presAssocID="{2800214C-1C63-4083-A1B0-903F6C86F24B}" presName="spaceRect" presStyleCnt="0"/>
      <dgm:spPr/>
    </dgm:pt>
    <dgm:pt modelId="{0EFAEE2B-F84A-46C7-B695-8A7429A7E67F}" type="pres">
      <dgm:prSet presAssocID="{2800214C-1C63-4083-A1B0-903F6C86F24B}" presName="textRect" presStyleLbl="revTx" presStyleIdx="0" presStyleCnt="2" custLinFactNeighborX="8526" custLinFactNeighborY="-46367">
        <dgm:presLayoutVars>
          <dgm:chMax val="1"/>
          <dgm:chPref val="1"/>
        </dgm:presLayoutVars>
      </dgm:prSet>
      <dgm:spPr/>
    </dgm:pt>
    <dgm:pt modelId="{B5B2DFA6-CB03-4E57-A56B-E357AB3C15A0}" type="pres">
      <dgm:prSet presAssocID="{68A8125E-0144-4B82-A252-E8D7BD3CF96F}" presName="sibTrans" presStyleCnt="0"/>
      <dgm:spPr/>
    </dgm:pt>
    <dgm:pt modelId="{1B33F099-C91F-48F4-94EB-61C4C3C04928}" type="pres">
      <dgm:prSet presAssocID="{B74815BD-64B2-4625-A1A0-B1264E2355F7}" presName="compNode" presStyleCnt="0"/>
      <dgm:spPr/>
    </dgm:pt>
    <dgm:pt modelId="{4BD45E95-A4B6-40D4-931F-97F6B5EC27E3}" type="pres">
      <dgm:prSet presAssocID="{B74815BD-64B2-4625-A1A0-B1264E2355F7}" presName="iconBgRect" presStyleLbl="bgShp" presStyleIdx="1" presStyleCnt="2" custScaleX="75132" custScaleY="75132" custLinFactNeighborX="15239" custLinFactNeighborY="-10699"/>
      <dgm:spPr/>
    </dgm:pt>
    <dgm:pt modelId="{0F1FC14C-4B96-4E15-819E-4DE78B0FCF99}" type="pres">
      <dgm:prSet presAssocID="{B74815BD-64B2-4625-A1A0-B1264E2355F7}" presName="iconRect" presStyleLbl="node1" presStyleIdx="1" presStyleCnt="2" custScaleX="75132" custScaleY="75132" custLinFactNeighborX="25648" custLinFactNeighborY="-1567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9F0C77B3-21B7-4E5E-A279-D512502536A2}" type="pres">
      <dgm:prSet presAssocID="{B74815BD-64B2-4625-A1A0-B1264E2355F7}" presName="spaceRect" presStyleCnt="0"/>
      <dgm:spPr/>
    </dgm:pt>
    <dgm:pt modelId="{203D37AB-EE7A-46BE-89D9-52BAA7024EE6}" type="pres">
      <dgm:prSet presAssocID="{B74815BD-64B2-4625-A1A0-B1264E2355F7}" presName="textRect" presStyleLbl="revTx" presStyleIdx="1" presStyleCnt="2" custScaleX="134160" custLinFactNeighborX="4997" custLinFactNeighborY="-42066">
        <dgm:presLayoutVars>
          <dgm:chMax val="1"/>
          <dgm:chPref val="1"/>
        </dgm:presLayoutVars>
      </dgm:prSet>
      <dgm:spPr/>
    </dgm:pt>
  </dgm:ptLst>
  <dgm:cxnLst>
    <dgm:cxn modelId="{1D654419-C3FB-4FC1-8C55-61174E49F6F6}" srcId="{32444B57-8BD6-4747-A948-116D62D54FA3}" destId="{2800214C-1C63-4083-A1B0-903F6C86F24B}" srcOrd="0" destOrd="0" parTransId="{DE1D4751-D5E7-44C9-98C4-6789937EF050}" sibTransId="{68A8125E-0144-4B82-A252-E8D7BD3CF96F}"/>
    <dgm:cxn modelId="{C5550B2A-9307-47C4-AD0C-68F564FDD7FD}" type="presOf" srcId="{2800214C-1C63-4083-A1B0-903F6C86F24B}" destId="{0EFAEE2B-F84A-46C7-B695-8A7429A7E67F}" srcOrd="0" destOrd="0" presId="urn:microsoft.com/office/officeart/2018/5/layout/IconCircleLabelList"/>
    <dgm:cxn modelId="{676C0E5F-D4D6-4A11-A72E-D713CBC003D0}" type="presOf" srcId="{32444B57-8BD6-4747-A948-116D62D54FA3}" destId="{B66AFCA2-FA14-4140-AABD-134DFBB362BF}" srcOrd="0" destOrd="0" presId="urn:microsoft.com/office/officeart/2018/5/layout/IconCircleLabelList"/>
    <dgm:cxn modelId="{B3FD43A8-22F9-429C-AFC1-D4690A31E5DE}" type="presOf" srcId="{B74815BD-64B2-4625-A1A0-B1264E2355F7}" destId="{203D37AB-EE7A-46BE-89D9-52BAA7024EE6}" srcOrd="0" destOrd="0" presId="urn:microsoft.com/office/officeart/2018/5/layout/IconCircleLabelList"/>
    <dgm:cxn modelId="{916009F3-E892-4FD5-B260-29B5E3684B26}" srcId="{32444B57-8BD6-4747-A948-116D62D54FA3}" destId="{B74815BD-64B2-4625-A1A0-B1264E2355F7}" srcOrd="1" destOrd="0" parTransId="{3847B2B7-EA15-48D3-8C36-A1EAEA056700}" sibTransId="{EE0E9017-7D9E-411B-B14A-B0AAEB81D6F4}"/>
    <dgm:cxn modelId="{273ED1BB-DC9C-4551-853E-9F7BB5417A22}" type="presParOf" srcId="{B66AFCA2-FA14-4140-AABD-134DFBB362BF}" destId="{90CD99B2-9332-4840-9BF6-9A409D2AA6FF}" srcOrd="0" destOrd="0" presId="urn:microsoft.com/office/officeart/2018/5/layout/IconCircleLabelList"/>
    <dgm:cxn modelId="{C966CDCB-4760-4549-8D29-935AA5488083}" type="presParOf" srcId="{90CD99B2-9332-4840-9BF6-9A409D2AA6FF}" destId="{4738E840-71F0-4793-81B1-38BE5E31BE45}" srcOrd="0" destOrd="0" presId="urn:microsoft.com/office/officeart/2018/5/layout/IconCircleLabelList"/>
    <dgm:cxn modelId="{4979509A-DE0F-4CE1-B4C3-F827EE4416A6}" type="presParOf" srcId="{90CD99B2-9332-4840-9BF6-9A409D2AA6FF}" destId="{B7B9A424-A9D9-47E0-8B7C-0D90664A498A}" srcOrd="1" destOrd="0" presId="urn:microsoft.com/office/officeart/2018/5/layout/IconCircleLabelList"/>
    <dgm:cxn modelId="{BF2B8C95-B796-497E-AB55-AB49DE8DF7CA}" type="presParOf" srcId="{90CD99B2-9332-4840-9BF6-9A409D2AA6FF}" destId="{19710AAA-AB8C-4FCD-9790-BACE85A7E127}" srcOrd="2" destOrd="0" presId="urn:microsoft.com/office/officeart/2018/5/layout/IconCircleLabelList"/>
    <dgm:cxn modelId="{95787F18-7C05-4876-B69B-A3A9C83D80AB}" type="presParOf" srcId="{90CD99B2-9332-4840-9BF6-9A409D2AA6FF}" destId="{0EFAEE2B-F84A-46C7-B695-8A7429A7E67F}" srcOrd="3" destOrd="0" presId="urn:microsoft.com/office/officeart/2018/5/layout/IconCircleLabelList"/>
    <dgm:cxn modelId="{857D97E4-690D-416D-804D-6F73BD199DF5}" type="presParOf" srcId="{B66AFCA2-FA14-4140-AABD-134DFBB362BF}" destId="{B5B2DFA6-CB03-4E57-A56B-E357AB3C15A0}" srcOrd="1" destOrd="0" presId="urn:microsoft.com/office/officeart/2018/5/layout/IconCircleLabelList"/>
    <dgm:cxn modelId="{E00A38D5-8831-40CE-8B15-EDDC84BEA01F}" type="presParOf" srcId="{B66AFCA2-FA14-4140-AABD-134DFBB362BF}" destId="{1B33F099-C91F-48F4-94EB-61C4C3C04928}" srcOrd="2" destOrd="0" presId="urn:microsoft.com/office/officeart/2018/5/layout/IconCircleLabelList"/>
    <dgm:cxn modelId="{37BCC1BF-C0E9-4A8C-A7A9-43FC4F621858}" type="presParOf" srcId="{1B33F099-C91F-48F4-94EB-61C4C3C04928}" destId="{4BD45E95-A4B6-40D4-931F-97F6B5EC27E3}" srcOrd="0" destOrd="0" presId="urn:microsoft.com/office/officeart/2018/5/layout/IconCircleLabelList"/>
    <dgm:cxn modelId="{11B03AF7-FB22-45EA-87FD-96F5F97EAF3C}" type="presParOf" srcId="{1B33F099-C91F-48F4-94EB-61C4C3C04928}" destId="{0F1FC14C-4B96-4E15-819E-4DE78B0FCF99}" srcOrd="1" destOrd="0" presId="urn:microsoft.com/office/officeart/2018/5/layout/IconCircleLabelList"/>
    <dgm:cxn modelId="{5A66274F-533D-4721-9559-7DBA0A2E77F9}" type="presParOf" srcId="{1B33F099-C91F-48F4-94EB-61C4C3C04928}" destId="{9F0C77B3-21B7-4E5E-A279-D512502536A2}" srcOrd="2" destOrd="0" presId="urn:microsoft.com/office/officeart/2018/5/layout/IconCircleLabelList"/>
    <dgm:cxn modelId="{15FAB618-FC3B-428D-B0B6-1B195CB7E7F8}" type="presParOf" srcId="{1B33F099-C91F-48F4-94EB-61C4C3C04928}" destId="{203D37AB-EE7A-46BE-89D9-52BAA7024EE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FAF71B-99E0-4206-89CE-C75840B0C455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F69145-EC92-4288-B90D-7E4172F7083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RO1:  To identify the prominent features that can be used to predict the used car price.</a:t>
          </a:r>
        </a:p>
      </dgm:t>
    </dgm:pt>
    <dgm:pt modelId="{0BD6AE47-69E5-4DE9-A731-E98E5D66B4AD}" type="parTrans" cxnId="{5805A61F-60D6-42C8-A308-C148DBD8E385}">
      <dgm:prSet/>
      <dgm:spPr/>
      <dgm:t>
        <a:bodyPr/>
        <a:lstStyle/>
        <a:p>
          <a:endParaRPr lang="en-US"/>
        </a:p>
      </dgm:t>
    </dgm:pt>
    <dgm:pt modelId="{F30A1662-09D6-4FBF-B829-DA2D15C0708A}" type="sibTrans" cxnId="{5805A61F-60D6-42C8-A308-C148DBD8E385}">
      <dgm:prSet/>
      <dgm:spPr/>
      <dgm:t>
        <a:bodyPr/>
        <a:lstStyle/>
        <a:p>
          <a:endParaRPr lang="en-US"/>
        </a:p>
      </dgm:t>
    </dgm:pt>
    <dgm:pt modelId="{ECCE1E21-7429-4B9B-9052-BD396BC01B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RO2:  To develop machine learning models using different algorithms to predict the used car price.</a:t>
          </a:r>
        </a:p>
      </dgm:t>
    </dgm:pt>
    <dgm:pt modelId="{AF28D00B-7E14-42BC-9F4B-ED7E72658483}" type="parTrans" cxnId="{073DF444-1490-41E5-A640-0A74A5DD46C4}">
      <dgm:prSet/>
      <dgm:spPr/>
      <dgm:t>
        <a:bodyPr/>
        <a:lstStyle/>
        <a:p>
          <a:endParaRPr lang="en-US"/>
        </a:p>
      </dgm:t>
    </dgm:pt>
    <dgm:pt modelId="{146AA78C-D8B8-4C79-98A8-2FE5DD7859FA}" type="sibTrans" cxnId="{073DF444-1490-41E5-A640-0A74A5DD46C4}">
      <dgm:prSet/>
      <dgm:spPr/>
      <dgm:t>
        <a:bodyPr/>
        <a:lstStyle/>
        <a:p>
          <a:endParaRPr lang="en-US"/>
        </a:p>
      </dgm:t>
    </dgm:pt>
    <dgm:pt modelId="{9496C7DA-8903-4DD9-813F-D7541469C6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RO3:  To evaluate and determine the best machine learning model to predict the used car price.</a:t>
          </a:r>
        </a:p>
      </dgm:t>
    </dgm:pt>
    <dgm:pt modelId="{E6B648BE-F23A-44C8-981C-57BC58C3541E}" type="parTrans" cxnId="{771FF24D-AFD4-4445-A370-F805ABE55169}">
      <dgm:prSet/>
      <dgm:spPr/>
      <dgm:t>
        <a:bodyPr/>
        <a:lstStyle/>
        <a:p>
          <a:endParaRPr lang="en-US"/>
        </a:p>
      </dgm:t>
    </dgm:pt>
    <dgm:pt modelId="{04B3402C-04DD-4C7B-A41E-D5B16AD374AA}" type="sibTrans" cxnId="{771FF24D-AFD4-4445-A370-F805ABE55169}">
      <dgm:prSet/>
      <dgm:spPr/>
      <dgm:t>
        <a:bodyPr/>
        <a:lstStyle/>
        <a:p>
          <a:endParaRPr lang="en-US"/>
        </a:p>
      </dgm:t>
    </dgm:pt>
    <dgm:pt modelId="{733E709F-662B-42CC-907A-601D4437B8EF}" type="pres">
      <dgm:prSet presAssocID="{F3FAF71B-99E0-4206-89CE-C75840B0C455}" presName="root" presStyleCnt="0">
        <dgm:presLayoutVars>
          <dgm:dir/>
          <dgm:resizeHandles val="exact"/>
        </dgm:presLayoutVars>
      </dgm:prSet>
      <dgm:spPr/>
    </dgm:pt>
    <dgm:pt modelId="{9DDD5617-B268-44A1-B7F1-78F26DC5B03D}" type="pres">
      <dgm:prSet presAssocID="{12F69145-EC92-4288-B90D-7E4172F7083F}" presName="compNode" presStyleCnt="0"/>
      <dgm:spPr/>
    </dgm:pt>
    <dgm:pt modelId="{03C1D24F-69E6-4599-9D27-968DCCD6FC64}" type="pres">
      <dgm:prSet presAssocID="{12F69145-EC92-4288-B90D-7E4172F7083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EEBEF59B-B852-40B1-B85F-04ECFF14632E}" type="pres">
      <dgm:prSet presAssocID="{12F69145-EC92-4288-B90D-7E4172F7083F}" presName="spaceRect" presStyleCnt="0"/>
      <dgm:spPr/>
    </dgm:pt>
    <dgm:pt modelId="{13A0581A-C917-4610-B1BB-173643A0B45A}" type="pres">
      <dgm:prSet presAssocID="{12F69145-EC92-4288-B90D-7E4172F7083F}" presName="textRect" presStyleLbl="revTx" presStyleIdx="0" presStyleCnt="3">
        <dgm:presLayoutVars>
          <dgm:chMax val="1"/>
          <dgm:chPref val="1"/>
        </dgm:presLayoutVars>
      </dgm:prSet>
      <dgm:spPr/>
    </dgm:pt>
    <dgm:pt modelId="{77871733-A77B-40A0-B61E-CA4FFF76BA99}" type="pres">
      <dgm:prSet presAssocID="{F30A1662-09D6-4FBF-B829-DA2D15C0708A}" presName="sibTrans" presStyleCnt="0"/>
      <dgm:spPr/>
    </dgm:pt>
    <dgm:pt modelId="{C59C8BF6-44BB-4A4A-A2CE-E0F042D2BA66}" type="pres">
      <dgm:prSet presAssocID="{ECCE1E21-7429-4B9B-9052-BD396BC01BBB}" presName="compNode" presStyleCnt="0"/>
      <dgm:spPr/>
    </dgm:pt>
    <dgm:pt modelId="{B815F87C-D14F-4326-9D40-C8349EB976DE}" type="pres">
      <dgm:prSet presAssocID="{ECCE1E21-7429-4B9B-9052-BD396BC01BB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EFA56B0E-B362-49B2-987B-F6D1210148D2}" type="pres">
      <dgm:prSet presAssocID="{ECCE1E21-7429-4B9B-9052-BD396BC01BBB}" presName="spaceRect" presStyleCnt="0"/>
      <dgm:spPr/>
    </dgm:pt>
    <dgm:pt modelId="{137982D7-04F2-4FB9-8B8A-4C20AD416AC5}" type="pres">
      <dgm:prSet presAssocID="{ECCE1E21-7429-4B9B-9052-BD396BC01BBB}" presName="textRect" presStyleLbl="revTx" presStyleIdx="1" presStyleCnt="3">
        <dgm:presLayoutVars>
          <dgm:chMax val="1"/>
          <dgm:chPref val="1"/>
        </dgm:presLayoutVars>
      </dgm:prSet>
      <dgm:spPr/>
    </dgm:pt>
    <dgm:pt modelId="{479681C4-89F6-4654-AF65-8CD5F94D0C51}" type="pres">
      <dgm:prSet presAssocID="{146AA78C-D8B8-4C79-98A8-2FE5DD7859FA}" presName="sibTrans" presStyleCnt="0"/>
      <dgm:spPr/>
    </dgm:pt>
    <dgm:pt modelId="{EED00A21-DE86-4319-B44B-2B3A937A3C87}" type="pres">
      <dgm:prSet presAssocID="{9496C7DA-8903-4DD9-813F-D7541469C661}" presName="compNode" presStyleCnt="0"/>
      <dgm:spPr/>
    </dgm:pt>
    <dgm:pt modelId="{02E90EA7-01A6-4BE7-B0D8-8822BF990D5D}" type="pres">
      <dgm:prSet presAssocID="{9496C7DA-8903-4DD9-813F-D7541469C6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D669B59C-DF88-48EB-B413-67F1FF0D27AF}" type="pres">
      <dgm:prSet presAssocID="{9496C7DA-8903-4DD9-813F-D7541469C661}" presName="spaceRect" presStyleCnt="0"/>
      <dgm:spPr/>
    </dgm:pt>
    <dgm:pt modelId="{C3D524D4-674C-4845-A495-E33F3CDCBE33}" type="pres">
      <dgm:prSet presAssocID="{9496C7DA-8903-4DD9-813F-D7541469C66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805A61F-60D6-42C8-A308-C148DBD8E385}" srcId="{F3FAF71B-99E0-4206-89CE-C75840B0C455}" destId="{12F69145-EC92-4288-B90D-7E4172F7083F}" srcOrd="0" destOrd="0" parTransId="{0BD6AE47-69E5-4DE9-A731-E98E5D66B4AD}" sibTransId="{F30A1662-09D6-4FBF-B829-DA2D15C0708A}"/>
    <dgm:cxn modelId="{073DF444-1490-41E5-A640-0A74A5DD46C4}" srcId="{F3FAF71B-99E0-4206-89CE-C75840B0C455}" destId="{ECCE1E21-7429-4B9B-9052-BD396BC01BBB}" srcOrd="1" destOrd="0" parTransId="{AF28D00B-7E14-42BC-9F4B-ED7E72658483}" sibTransId="{146AA78C-D8B8-4C79-98A8-2FE5DD7859FA}"/>
    <dgm:cxn modelId="{771FF24D-AFD4-4445-A370-F805ABE55169}" srcId="{F3FAF71B-99E0-4206-89CE-C75840B0C455}" destId="{9496C7DA-8903-4DD9-813F-D7541469C661}" srcOrd="2" destOrd="0" parTransId="{E6B648BE-F23A-44C8-981C-57BC58C3541E}" sibTransId="{04B3402C-04DD-4C7B-A41E-D5B16AD374AA}"/>
    <dgm:cxn modelId="{E4013078-427E-45DB-BA15-ACCDB12F99F4}" type="presOf" srcId="{12F69145-EC92-4288-B90D-7E4172F7083F}" destId="{13A0581A-C917-4610-B1BB-173643A0B45A}" srcOrd="0" destOrd="0" presId="urn:microsoft.com/office/officeart/2018/2/layout/IconLabelList"/>
    <dgm:cxn modelId="{C7A6485A-CFC0-4A1F-911D-56071F787339}" type="presOf" srcId="{F3FAF71B-99E0-4206-89CE-C75840B0C455}" destId="{733E709F-662B-42CC-907A-601D4437B8EF}" srcOrd="0" destOrd="0" presId="urn:microsoft.com/office/officeart/2018/2/layout/IconLabelList"/>
    <dgm:cxn modelId="{464CEDC2-692B-4635-A106-32AD4415FECF}" type="presOf" srcId="{9496C7DA-8903-4DD9-813F-D7541469C661}" destId="{C3D524D4-674C-4845-A495-E33F3CDCBE33}" srcOrd="0" destOrd="0" presId="urn:microsoft.com/office/officeart/2018/2/layout/IconLabelList"/>
    <dgm:cxn modelId="{017D53DF-DBE5-49E9-A5C8-D4A77EC60012}" type="presOf" srcId="{ECCE1E21-7429-4B9B-9052-BD396BC01BBB}" destId="{137982D7-04F2-4FB9-8B8A-4C20AD416AC5}" srcOrd="0" destOrd="0" presId="urn:microsoft.com/office/officeart/2018/2/layout/IconLabelList"/>
    <dgm:cxn modelId="{2DF885B8-7887-45CB-8252-271BA02B415D}" type="presParOf" srcId="{733E709F-662B-42CC-907A-601D4437B8EF}" destId="{9DDD5617-B268-44A1-B7F1-78F26DC5B03D}" srcOrd="0" destOrd="0" presId="urn:microsoft.com/office/officeart/2018/2/layout/IconLabelList"/>
    <dgm:cxn modelId="{B2BEBB5D-1229-4529-BD2F-74F7CE6C68D0}" type="presParOf" srcId="{9DDD5617-B268-44A1-B7F1-78F26DC5B03D}" destId="{03C1D24F-69E6-4599-9D27-968DCCD6FC64}" srcOrd="0" destOrd="0" presId="urn:microsoft.com/office/officeart/2018/2/layout/IconLabelList"/>
    <dgm:cxn modelId="{88952A1A-916C-484A-8D67-4E98E880AA5E}" type="presParOf" srcId="{9DDD5617-B268-44A1-B7F1-78F26DC5B03D}" destId="{EEBEF59B-B852-40B1-B85F-04ECFF14632E}" srcOrd="1" destOrd="0" presId="urn:microsoft.com/office/officeart/2018/2/layout/IconLabelList"/>
    <dgm:cxn modelId="{EC8EEA6A-0EDD-4E71-A495-386938431DDF}" type="presParOf" srcId="{9DDD5617-B268-44A1-B7F1-78F26DC5B03D}" destId="{13A0581A-C917-4610-B1BB-173643A0B45A}" srcOrd="2" destOrd="0" presId="urn:microsoft.com/office/officeart/2018/2/layout/IconLabelList"/>
    <dgm:cxn modelId="{6D523880-B5D2-4A25-B373-02D260B827DF}" type="presParOf" srcId="{733E709F-662B-42CC-907A-601D4437B8EF}" destId="{77871733-A77B-40A0-B61E-CA4FFF76BA99}" srcOrd="1" destOrd="0" presId="urn:microsoft.com/office/officeart/2018/2/layout/IconLabelList"/>
    <dgm:cxn modelId="{8290E064-0D51-41C3-BA62-63B48CC82B13}" type="presParOf" srcId="{733E709F-662B-42CC-907A-601D4437B8EF}" destId="{C59C8BF6-44BB-4A4A-A2CE-E0F042D2BA66}" srcOrd="2" destOrd="0" presId="urn:microsoft.com/office/officeart/2018/2/layout/IconLabelList"/>
    <dgm:cxn modelId="{F04A5186-91AD-4E61-B90C-987B495700C6}" type="presParOf" srcId="{C59C8BF6-44BB-4A4A-A2CE-E0F042D2BA66}" destId="{B815F87C-D14F-4326-9D40-C8349EB976DE}" srcOrd="0" destOrd="0" presId="urn:microsoft.com/office/officeart/2018/2/layout/IconLabelList"/>
    <dgm:cxn modelId="{3EEE84DD-4448-48DC-9E87-2135616CF6A9}" type="presParOf" srcId="{C59C8BF6-44BB-4A4A-A2CE-E0F042D2BA66}" destId="{EFA56B0E-B362-49B2-987B-F6D1210148D2}" srcOrd="1" destOrd="0" presId="urn:microsoft.com/office/officeart/2018/2/layout/IconLabelList"/>
    <dgm:cxn modelId="{8FD16431-8166-40BC-8A04-1F515D70D58F}" type="presParOf" srcId="{C59C8BF6-44BB-4A4A-A2CE-E0F042D2BA66}" destId="{137982D7-04F2-4FB9-8B8A-4C20AD416AC5}" srcOrd="2" destOrd="0" presId="urn:microsoft.com/office/officeart/2018/2/layout/IconLabelList"/>
    <dgm:cxn modelId="{FAE142C9-EA95-4F7F-B6C6-9BBABD8DE6F0}" type="presParOf" srcId="{733E709F-662B-42CC-907A-601D4437B8EF}" destId="{479681C4-89F6-4654-AF65-8CD5F94D0C51}" srcOrd="3" destOrd="0" presId="urn:microsoft.com/office/officeart/2018/2/layout/IconLabelList"/>
    <dgm:cxn modelId="{A5EB97D9-6B6C-43F7-AC2F-35317B73B041}" type="presParOf" srcId="{733E709F-662B-42CC-907A-601D4437B8EF}" destId="{EED00A21-DE86-4319-B44B-2B3A937A3C87}" srcOrd="4" destOrd="0" presId="urn:microsoft.com/office/officeart/2018/2/layout/IconLabelList"/>
    <dgm:cxn modelId="{D17139BF-B1C6-4ABB-BF70-9713986EFAA5}" type="presParOf" srcId="{EED00A21-DE86-4319-B44B-2B3A937A3C87}" destId="{02E90EA7-01A6-4BE7-B0D8-8822BF990D5D}" srcOrd="0" destOrd="0" presId="urn:microsoft.com/office/officeart/2018/2/layout/IconLabelList"/>
    <dgm:cxn modelId="{D61C5926-1DDE-4FEE-ABF1-A79A23D13CB7}" type="presParOf" srcId="{EED00A21-DE86-4319-B44B-2B3A937A3C87}" destId="{D669B59C-DF88-48EB-B413-67F1FF0D27AF}" srcOrd="1" destOrd="0" presId="urn:microsoft.com/office/officeart/2018/2/layout/IconLabelList"/>
    <dgm:cxn modelId="{0BE70D80-47FA-4178-9D9A-67DB07085031}" type="presParOf" srcId="{EED00A21-DE86-4319-B44B-2B3A937A3C87}" destId="{C3D524D4-674C-4845-A495-E33F3CDCBE3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38E840-71F0-4793-81B1-38BE5E31BE45}">
      <dsp:nvSpPr>
        <dsp:cNvPr id="0" name=""/>
        <dsp:cNvSpPr/>
      </dsp:nvSpPr>
      <dsp:spPr>
        <a:xfrm>
          <a:off x="1050219" y="92243"/>
          <a:ext cx="1359294" cy="135929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B9A424-A9D9-47E0-8B7C-0D90664A498A}">
      <dsp:nvSpPr>
        <dsp:cNvPr id="0" name=""/>
        <dsp:cNvSpPr/>
      </dsp:nvSpPr>
      <dsp:spPr>
        <a:xfrm>
          <a:off x="1339901" y="381921"/>
          <a:ext cx="779923" cy="7799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AEE2B-F84A-46C7-B695-8A7429A7E67F}">
      <dsp:nvSpPr>
        <dsp:cNvPr id="0" name=""/>
        <dsp:cNvSpPr/>
      </dsp:nvSpPr>
      <dsp:spPr>
        <a:xfrm>
          <a:off x="332863" y="1868198"/>
          <a:ext cx="3262500" cy="1127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>
              <a:latin typeface="+mn-lt"/>
            </a:rPr>
            <a:t>The used car market is a growing business with a projection of 480,000 units of used car to be sold in 2022 (</a:t>
          </a:r>
          <a:r>
            <a:rPr lang="en-US" sz="1500" kern="1200" err="1">
              <a:latin typeface="+mn-lt"/>
            </a:rPr>
            <a:t>TheStar</a:t>
          </a:r>
          <a:r>
            <a:rPr lang="en-US" sz="1500" kern="1200">
              <a:latin typeface="+mn-lt"/>
            </a:rPr>
            <a:t>, 2022)</a:t>
          </a:r>
        </a:p>
      </dsp:txBody>
      <dsp:txXfrm>
        <a:off x="332863" y="1868198"/>
        <a:ext cx="3262500" cy="1127195"/>
      </dsp:txXfrm>
    </dsp:sp>
    <dsp:sp modelId="{4BD45E95-A4B6-40D4-931F-97F6B5EC27E3}">
      <dsp:nvSpPr>
        <dsp:cNvPr id="0" name=""/>
        <dsp:cNvSpPr/>
      </dsp:nvSpPr>
      <dsp:spPr>
        <a:xfrm>
          <a:off x="5742786" y="205336"/>
          <a:ext cx="1123389" cy="112338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1FC14C-4B96-4E15-819E-4DE78B0FCF99}">
      <dsp:nvSpPr>
        <dsp:cNvPr id="0" name=""/>
        <dsp:cNvSpPr/>
      </dsp:nvSpPr>
      <dsp:spPr>
        <a:xfrm>
          <a:off x="5974378" y="470285"/>
          <a:ext cx="644567" cy="6445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3D37AB-EE7A-46BE-89D9-52BAA7024EE6}">
      <dsp:nvSpPr>
        <dsp:cNvPr id="0" name=""/>
        <dsp:cNvSpPr/>
      </dsp:nvSpPr>
      <dsp:spPr>
        <a:xfrm>
          <a:off x="3942842" y="1820323"/>
          <a:ext cx="4376970" cy="1127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>
              <a:latin typeface="+mn-lt"/>
            </a:rPr>
            <a:t>Buying used cars is commonly an alternative option for the car purchasers if their budgets are insufficient for a new car, due to high cost of new cars </a:t>
          </a:r>
          <a:r>
            <a:rPr lang="en-US" sz="1400" kern="1200"/>
            <a:t>(Blanco, 2022)</a:t>
          </a:r>
          <a:r>
            <a:rPr lang="en-US" sz="1400" kern="1200">
              <a:latin typeface="+mn-lt"/>
            </a:rPr>
            <a:t>, which is almost twice as much compared to a used car.</a:t>
          </a:r>
          <a:endParaRPr lang="en-MY" sz="1400" kern="1200">
            <a:latin typeface="+mn-lt"/>
          </a:endParaRPr>
        </a:p>
      </dsp:txBody>
      <dsp:txXfrm>
        <a:off x="3942842" y="1820323"/>
        <a:ext cx="4376970" cy="11271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C1D24F-69E6-4599-9D27-968DCCD6FC64}">
      <dsp:nvSpPr>
        <dsp:cNvPr id="0" name=""/>
        <dsp:cNvSpPr/>
      </dsp:nvSpPr>
      <dsp:spPr>
        <a:xfrm>
          <a:off x="891339" y="1030759"/>
          <a:ext cx="1097314" cy="10973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A0581A-C917-4610-B1BB-173643A0B45A}">
      <dsp:nvSpPr>
        <dsp:cNvPr id="0" name=""/>
        <dsp:cNvSpPr/>
      </dsp:nvSpPr>
      <dsp:spPr>
        <a:xfrm>
          <a:off x="220758" y="2520436"/>
          <a:ext cx="2438476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RO1:  To identify the prominent features that can be used to predict the used car price.</a:t>
          </a:r>
        </a:p>
      </dsp:txBody>
      <dsp:txXfrm>
        <a:off x="220758" y="2520436"/>
        <a:ext cx="2438476" cy="1125000"/>
      </dsp:txXfrm>
    </dsp:sp>
    <dsp:sp modelId="{B815F87C-D14F-4326-9D40-C8349EB976DE}">
      <dsp:nvSpPr>
        <dsp:cNvPr id="0" name=""/>
        <dsp:cNvSpPr/>
      </dsp:nvSpPr>
      <dsp:spPr>
        <a:xfrm>
          <a:off x="3756549" y="1030759"/>
          <a:ext cx="1097314" cy="10973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7982D7-04F2-4FB9-8B8A-4C20AD416AC5}">
      <dsp:nvSpPr>
        <dsp:cNvPr id="0" name=""/>
        <dsp:cNvSpPr/>
      </dsp:nvSpPr>
      <dsp:spPr>
        <a:xfrm>
          <a:off x="3085968" y="2520436"/>
          <a:ext cx="2438476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RO2:  To develop machine learning models using different algorithms to predict the used car price.</a:t>
          </a:r>
        </a:p>
      </dsp:txBody>
      <dsp:txXfrm>
        <a:off x="3085968" y="2520436"/>
        <a:ext cx="2438476" cy="1125000"/>
      </dsp:txXfrm>
    </dsp:sp>
    <dsp:sp modelId="{02E90EA7-01A6-4BE7-B0D8-8822BF990D5D}">
      <dsp:nvSpPr>
        <dsp:cNvPr id="0" name=""/>
        <dsp:cNvSpPr/>
      </dsp:nvSpPr>
      <dsp:spPr>
        <a:xfrm>
          <a:off x="6621758" y="1030759"/>
          <a:ext cx="1097314" cy="10973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D524D4-674C-4845-A495-E33F3CDCBE33}">
      <dsp:nvSpPr>
        <dsp:cNvPr id="0" name=""/>
        <dsp:cNvSpPr/>
      </dsp:nvSpPr>
      <dsp:spPr>
        <a:xfrm>
          <a:off x="5951177" y="2520436"/>
          <a:ext cx="2438476" cy="112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RO3:  To evaluate and determine the best machine learning model to predict the used car price.</a:t>
          </a:r>
        </a:p>
      </dsp:txBody>
      <dsp:txXfrm>
        <a:off x="5951177" y="2520436"/>
        <a:ext cx="2438476" cy="112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F2C1D-F243-42AB-ADF2-E7CB4E04900E}" type="datetimeFigureOut">
              <a:rPr lang="en-US" smtClean="0"/>
              <a:t>6/13/2022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CDBB5-5B4A-4483-935D-A73935186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CE34E-5667-4A32-A6BA-10C7A552BC63}" type="datetimeFigureOut">
              <a:rPr lang="en-US" smtClean="0"/>
              <a:t>6/13/2022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CE34D-CFF1-4FFE-815B-D050E7ED2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star.com.my/business/business-news/2022/02/03/used-car-industry-in-for-double-digit-growth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directlending.com.my/blog/buy-new-used-car-which-one-worth-your-buck-money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Opportunities &amp; Demand</a:t>
            </a:r>
          </a:p>
          <a:p>
            <a:endParaRPr lang="en-US">
              <a:hlinkClick r:id="rId3"/>
            </a:endParaRPr>
          </a:p>
          <a:p>
            <a:r>
              <a:rPr lang="en-US">
                <a:hlinkClick r:id="rId3"/>
              </a:rPr>
              <a:t>https://www.thestar.com.my/business/business-news/2022/02/03/used-car-industry-in-for-double-digit-growth</a:t>
            </a:r>
            <a:endParaRPr lang="en-US"/>
          </a:p>
          <a:p>
            <a:r>
              <a:rPr lang="en-US">
                <a:hlinkClick r:id="rId4"/>
              </a:rPr>
              <a:t>https://www.directlending.com.my/blog/buy-new-used-car-which-one-worth-your-buck-money</a:t>
            </a:r>
            <a:endParaRPr lang="en-US">
              <a:cs typeface="Calibri"/>
              <a:hlinkClick r:id="rId4"/>
            </a:endParaRPr>
          </a:p>
          <a:p>
            <a:r>
              <a:rPr lang="en-US" err="1">
                <a:cs typeface="Calibri"/>
              </a:rPr>
              <a:t>Myvi</a:t>
            </a:r>
            <a:r>
              <a:rPr lang="en-US">
                <a:cs typeface="Calibri"/>
              </a:rPr>
              <a:t> 2021 price RM50k new one to a second hand 2012 </a:t>
            </a:r>
            <a:r>
              <a:rPr lang="en-US" err="1">
                <a:cs typeface="Calibri"/>
              </a:rPr>
              <a:t>myvi</a:t>
            </a:r>
            <a:r>
              <a:rPr lang="en-US">
                <a:cs typeface="Calibri"/>
              </a:rPr>
              <a:t> at less than RM30k</a:t>
            </a:r>
          </a:p>
          <a:p>
            <a:r>
              <a:rPr lang="en-US">
                <a:cs typeface="Calibri"/>
              </a:rPr>
              <a:t>Insurance New 1,500, old </a:t>
            </a:r>
            <a:r>
              <a:rPr lang="en-US" err="1">
                <a:cs typeface="Calibri"/>
              </a:rPr>
              <a:t>myvi</a:t>
            </a:r>
            <a:r>
              <a:rPr lang="en-US">
                <a:cs typeface="Calibri"/>
              </a:rPr>
              <a:t> 1002</a:t>
            </a:r>
          </a:p>
          <a:p>
            <a:r>
              <a:rPr lang="en-US">
                <a:cs typeface="Calibri"/>
              </a:rPr>
              <a:t>Insurances are also cheaper, of course maintenance increases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99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0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23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97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03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 features used </a:t>
            </a:r>
          </a:p>
          <a:p>
            <a:pPr marL="342900" indent="-342900">
              <a:buAutoNum type="arabicPeriod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fuel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odometer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paint </a:t>
            </a:r>
          </a:p>
          <a:p>
            <a:pPr marL="342900" indent="-342900">
              <a:buAutoNum type="arabicPeriod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color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transmission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year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brand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model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variant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price</a:t>
            </a:r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63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 features used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fuel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odometer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paint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color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transmission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year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brand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model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variant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price</a:t>
            </a:r>
            <a:r>
              <a:rPr lang="en-US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860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 features used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fuel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odometer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paint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color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transmission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year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brand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model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variant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price</a:t>
            </a:r>
            <a:r>
              <a:rPr lang="en-US"/>
              <a:t>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CCE34D-CFF1-4FFE-815B-D050E7ED2DF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148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/>
              <a:t>Variable Importance analysis under Random Forest regressor, </a:t>
            </a:r>
            <a:r>
              <a:rPr lang="en-US" err="1"/>
              <a:t>howeve</a:t>
            </a:r>
            <a:endParaRPr lang="en-US"/>
          </a:p>
          <a:p>
            <a:pPr marL="228600" indent="-228600">
              <a:buAutoNum type="arabicPeriod"/>
            </a:pPr>
            <a:r>
              <a:rPr lang="en-US"/>
              <a:t>Future suggestion – include features that may have been missing in our dataset</a:t>
            </a:r>
          </a:p>
          <a:p>
            <a:pPr marL="228600" indent="-228600">
              <a:buAutoNum type="arabicPeriod" startAt="3"/>
            </a:pPr>
            <a:r>
              <a:rPr lang="en-US"/>
              <a:t>More dataset</a:t>
            </a:r>
          </a:p>
          <a:p>
            <a:pPr marL="228600" indent="-228600">
              <a:buAutoNum type="arabicPeriod" startAt="3"/>
            </a:pPr>
            <a:r>
              <a:rPr lang="en-US"/>
              <a:t>Because R Squared may not be the most effective performance metrics</a:t>
            </a:r>
          </a:p>
          <a:p>
            <a:pPr marL="228600" indent="-228600">
              <a:buAutoNum type="arabicPeriod" startAt="3"/>
            </a:pPr>
            <a:endParaRPr lang="en-US"/>
          </a:p>
          <a:p>
            <a:pPr marL="228600" indent="-228600">
              <a:buAutoNum type="arabicPeriod" startAt="3"/>
            </a:pPr>
            <a:endParaRPr lang="en-US"/>
          </a:p>
          <a:p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 features used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fuel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odometer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paint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color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transmission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year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brand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model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variant</a:t>
            </a:r>
            <a:r>
              <a:rPr lang="en-US"/>
              <a:t> </a:t>
            </a:r>
          </a:p>
          <a:p>
            <a:pPr marL="342900" indent="-342900">
              <a:buAutoNum type="arabicPeriod"/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price</a:t>
            </a:r>
            <a:r>
              <a:rPr lang="en-US"/>
              <a:t> 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6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657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anchor="b" anchorCtr="0">
            <a:noAutofit/>
          </a:bodyPr>
          <a:lstStyle/>
          <a:p>
            <a:r>
              <a:rPr lang="en-US" sz="4800"/>
              <a:t>3DFloat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anchor="t" anchorCtr="0">
            <a:noAutofit/>
          </a:bodyPr>
          <a:lstStyle>
            <a:lvl1pPr>
              <a:buNone/>
              <a:defRPr/>
            </a:lvl1pPr>
          </a:lstStyle>
          <a:p>
            <a:pPr>
              <a:lnSpc>
                <a:spcPct val="120000"/>
              </a:lnSpc>
            </a:pPr>
            <a:r>
              <a:rPr lang="en-US" sz="1600"/>
              <a:t>Click to add text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anchor="b" anchorCtr="0">
            <a:no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>
            <a:noAutofit/>
          </a:bodyPr>
          <a:lstStyle>
            <a:lvl1pPr>
              <a:buNone/>
              <a:defRPr sz="2400"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Chart Tab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anchor="b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Title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>
            <a:noAutofit/>
          </a:bodyPr>
          <a:lstStyle/>
          <a:p>
            <a:r>
              <a:rPr lang="en-US"/>
              <a:t>Team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7" name="Picture Placeholder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8" name="Picture Placeholder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Text Placeholder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/>
              <a:t>Click to EDIT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>
            <a:noAutofit/>
          </a:bodyPr>
          <a:lstStyle>
            <a:lvl1pPr>
              <a:buNone/>
              <a:defRPr sz="2400"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2.jpeg"/><Relationship Id="rId7" Type="http://schemas.openxmlformats.org/officeDocument/2006/relationships/diagramData" Target="../diagrams/data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11" Type="http://schemas.microsoft.com/office/2007/relationships/diagramDrawing" Target="../diagrams/drawing1.xml"/><Relationship Id="rId5" Type="http://schemas.openxmlformats.org/officeDocument/2006/relationships/image" Target="../media/image4.jpeg"/><Relationship Id="rId10" Type="http://schemas.openxmlformats.org/officeDocument/2006/relationships/diagramColors" Target="../diagrams/colors1.xml"/><Relationship Id="rId4" Type="http://schemas.openxmlformats.org/officeDocument/2006/relationships/image" Target="../media/image3.jpeg"/><Relationship Id="rId9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bikroy.com/" TargetMode="Externa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randdriver.com/news/a38748092/new-car-average-sale-prices-47100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0543" y="528661"/>
            <a:ext cx="3565524" cy="2384898"/>
          </a:xfrm>
        </p:spPr>
        <p:txBody>
          <a:bodyPr anchor="b" anchorCtr="0">
            <a:normAutofit/>
          </a:bodyPr>
          <a:lstStyle/>
          <a:p>
            <a:pPr algn="ctr"/>
            <a:r>
              <a:rPr lang="en-US" sz="4000"/>
              <a:t>Used Car Price Prediction using Machine Learning</a:t>
            </a:r>
          </a:p>
        </p:txBody>
      </p:sp>
      <p:pic>
        <p:nvPicPr>
          <p:cNvPr id="14" name="Picture Placeholder 13" descr="Data Points Digital background">
            <a:extLst>
              <a:ext uri="{FF2B5EF4-FFF2-40B4-BE49-F238E27FC236}">
                <a16:creationId xmlns:a16="http://schemas.microsoft.com/office/drawing/2014/main" id="{9A8AD548-922D-4E1D-B19C-5F6E808B81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7452360" cy="6858000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9A11267-FC52-4990-8D98-010AFABA5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1" y="3114304"/>
            <a:ext cx="3887787" cy="302316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200" b="1"/>
              <a:t>Members:-</a:t>
            </a:r>
          </a:p>
          <a:p>
            <a:pPr>
              <a:lnSpc>
                <a:spcPct val="100000"/>
              </a:lnSpc>
            </a:pPr>
            <a:r>
              <a:rPr lang="en-US" sz="1800"/>
              <a:t>Prasanta A/L </a:t>
            </a:r>
            <a:r>
              <a:rPr lang="en-US" sz="1800" err="1"/>
              <a:t>Sathasivam</a:t>
            </a:r>
            <a:r>
              <a:rPr lang="en-US" sz="1800"/>
              <a:t> 17157826</a:t>
            </a:r>
            <a:endParaRPr lang="en-US" b="1"/>
          </a:p>
          <a:p>
            <a:pPr>
              <a:lnSpc>
                <a:spcPct val="100000"/>
              </a:lnSpc>
            </a:pPr>
            <a:r>
              <a:rPr lang="en-US" sz="1800"/>
              <a:t>Khor Yi </a:t>
            </a:r>
            <a:r>
              <a:rPr lang="en-US" sz="1800" err="1"/>
              <a:t>Lun</a:t>
            </a:r>
            <a:r>
              <a:rPr lang="en-US" sz="1800"/>
              <a:t> S2018292</a:t>
            </a:r>
          </a:p>
          <a:p>
            <a:pPr>
              <a:lnSpc>
                <a:spcPct val="100000"/>
              </a:lnSpc>
            </a:pPr>
            <a:r>
              <a:rPr lang="en-US" sz="1800"/>
              <a:t>Sim Soon Jin S2043577</a:t>
            </a:r>
          </a:p>
          <a:p>
            <a:pPr>
              <a:lnSpc>
                <a:spcPct val="100000"/>
              </a:lnSpc>
            </a:pPr>
            <a:r>
              <a:rPr lang="en-US" sz="1800" err="1"/>
              <a:t>Sajay</a:t>
            </a:r>
            <a:r>
              <a:rPr lang="en-US" sz="1800"/>
              <a:t> Thomas Samuel S2102673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3418ADF-358F-4647-A511-FCFFEDA83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439" y="3606447"/>
            <a:ext cx="3317711" cy="1562959"/>
          </a:xfrm>
        </p:spPr>
        <p:txBody>
          <a:bodyPr/>
          <a:lstStyle/>
          <a:p>
            <a:r>
              <a:rPr lang="en-US"/>
              <a:t>Background</a:t>
            </a:r>
          </a:p>
        </p:txBody>
      </p:sp>
      <p:pic>
        <p:nvPicPr>
          <p:cNvPr id="18" name="Picture Placeholder 17" descr="A group of people sitting at a table">
            <a:extLst>
              <a:ext uri="{FF2B5EF4-FFF2-40B4-BE49-F238E27FC236}">
                <a16:creationId xmlns:a16="http://schemas.microsoft.com/office/drawing/2014/main" id="{E2536017-F539-430C-A901-70AB81CA612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0" y="1"/>
            <a:ext cx="3041904" cy="3071004"/>
          </a:xfrm>
        </p:spPr>
      </p:pic>
      <p:pic>
        <p:nvPicPr>
          <p:cNvPr id="20" name="Picture Placeholder 19" descr="Data Points Digital background">
            <a:extLst>
              <a:ext uri="{FF2B5EF4-FFF2-40B4-BE49-F238E27FC236}">
                <a16:creationId xmlns:a16="http://schemas.microsoft.com/office/drawing/2014/main" id="{528A7D8D-1AB5-46C4-93FA-D92C2FD5169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3054096" y="1"/>
            <a:ext cx="3041904" cy="3071004"/>
          </a:xfrm>
        </p:spPr>
      </p:pic>
      <p:pic>
        <p:nvPicPr>
          <p:cNvPr id="25" name="Picture Placeholder 24" descr="Digital Graph Screen">
            <a:extLst>
              <a:ext uri="{FF2B5EF4-FFF2-40B4-BE49-F238E27FC236}">
                <a16:creationId xmlns:a16="http://schemas.microsoft.com/office/drawing/2014/main" id="{B7353C46-ACC1-4078-85C2-26B57B0E58B7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9137904" y="1"/>
            <a:ext cx="3041904" cy="3071004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23" name="Picture Placeholder 22" descr="A person drawing on a white board">
            <a:extLst>
              <a:ext uri="{FF2B5EF4-FFF2-40B4-BE49-F238E27FC236}">
                <a16:creationId xmlns:a16="http://schemas.microsoft.com/office/drawing/2014/main" id="{2B3C4F95-A0FA-45D9-BF43-1C398F65B89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" b="42"/>
          <a:stretch/>
        </p:blipFill>
        <p:spPr>
          <a:xfrm>
            <a:off x="6083808" y="1"/>
            <a:ext cx="3041904" cy="3071004"/>
          </a:xfrm>
        </p:spPr>
      </p:pic>
      <p:graphicFrame>
        <p:nvGraphicFramePr>
          <p:cNvPr id="31" name="Content Placeholder 11">
            <a:extLst>
              <a:ext uri="{FF2B5EF4-FFF2-40B4-BE49-F238E27FC236}">
                <a16:creationId xmlns:a16="http://schemas.microsoft.com/office/drawing/2014/main" id="{0072F43C-FD99-F8AA-E744-E296BB068845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1846472450"/>
              </p:ext>
            </p:extLst>
          </p:nvPr>
        </p:nvGraphicFramePr>
        <p:xfrm>
          <a:off x="3553579" y="3071005"/>
          <a:ext cx="8319812" cy="37869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54711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20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9" name="Freeform: Shape 21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Oval 22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3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4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33" name="Rectangle 26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1E8936-2270-47FE-94A4-398CB123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430" y="336767"/>
            <a:ext cx="5284454" cy="795998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Statement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0287FEC-3826-4868-8D93-52429C6156F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7883" y="1305189"/>
            <a:ext cx="5407021" cy="4833821"/>
          </a:xfrm>
        </p:spPr>
        <p:txBody>
          <a:bodyPr vert="horz" wrap="square" lIns="0" tIns="0" rIns="0" bIns="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Purchasing used car has become the need for the people in the recent scenario of short supply of new cars due to the shortage of chips and supply chain issue.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Used car sellers raise the used cars’ price indiscriminately due to high demand of used cars.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>
                <a:effectLst/>
                <a:ea typeface="DengXian" panose="02010600030101010101" pitchFamily="2" charset="-122"/>
              </a:rPr>
              <a:t>It can be tough to determine whether a used car is worth the advertised price while looking at ads online.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An accurate and reliable used car price prediction model is imperative for car buyers and sellers to have a clearer picture to the fair price of the used cars.</a:t>
            </a:r>
          </a:p>
        </p:txBody>
      </p:sp>
      <p:pic>
        <p:nvPicPr>
          <p:cNvPr id="16" name="Picture Placeholder 15" descr="Data Points Digital background">
            <a:extLst>
              <a:ext uri="{FF2B5EF4-FFF2-40B4-BE49-F238E27FC236}">
                <a16:creationId xmlns:a16="http://schemas.microsoft.com/office/drawing/2014/main" id="{361E9ADB-7377-4CF1-9AE4-AEFBDEBEEEE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84" r="22916" b="-1"/>
          <a:stretch/>
        </p:blipFill>
        <p:spPr>
          <a:xfrm>
            <a:off x="6508748" y="809520"/>
            <a:ext cx="5132388" cy="5132388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</p:pic>
      <p:grpSp>
        <p:nvGrpSpPr>
          <p:cNvPr id="35" name="Group 28">
            <a:extLst>
              <a:ext uri="{FF2B5EF4-FFF2-40B4-BE49-F238E27FC236}">
                <a16:creationId xmlns:a16="http://schemas.microsoft.com/office/drawing/2014/main" id="{183B29DA-9BB8-4BA8-B8E1-8C2B54407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D02496F8-166D-469A-8040-08608013B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23E648A7-A02A-4DC7-9FEC-489F1BA6F7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8">
              <a:extLst>
                <a:ext uri="{FF2B5EF4-FFF2-40B4-BE49-F238E27FC236}">
                  <a16:creationId xmlns:a16="http://schemas.microsoft.com/office/drawing/2014/main" id="{4EF573B1-38BC-4C7B-894C-BE3864A04A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647A77D8-817B-4A9F-86AA-FE781E813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vert="horz"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BA1B0FB-D917-4C8C-928F-313BD683BF39}" type="slidenum">
              <a:rPr lang="en-US" smtClean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538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D10F3D66-0109-4903-90B9-66D0E288F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DAB968-9B52-4EFF-AD39-7657DFEA6E4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62BE440-9634-4380-B142-5DB692420C52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4B18D636-CC10-4B1E-AA38-419DCCF2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>
            <a:normAutofit/>
          </a:bodyPr>
          <a:lstStyle/>
          <a:p>
            <a:r>
              <a:rPr lang="en-US"/>
              <a:t>Research Objective</a:t>
            </a:r>
          </a:p>
        </p:txBody>
      </p:sp>
      <p:graphicFrame>
        <p:nvGraphicFramePr>
          <p:cNvPr id="29" name="Content Placeholder 9">
            <a:extLst>
              <a:ext uri="{FF2B5EF4-FFF2-40B4-BE49-F238E27FC236}">
                <a16:creationId xmlns:a16="http://schemas.microsoft.com/office/drawing/2014/main" id="{15C1B2EB-79C0-C682-6DAD-FFEBCF0C8B1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24971581"/>
              </p:ext>
            </p:extLst>
          </p:nvPr>
        </p:nvGraphicFramePr>
        <p:xfrm>
          <a:off x="1790793" y="1632529"/>
          <a:ext cx="8610413" cy="46761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6F3814E-455F-456B-B1AF-7B993965A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50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Placeholder 7" descr="Data Points Digital background">
            <a:extLst>
              <a:ext uri="{FF2B5EF4-FFF2-40B4-BE49-F238E27FC236}">
                <a16:creationId xmlns:a16="http://schemas.microsoft.com/office/drawing/2014/main" id="{5FED7C55-F545-49A1-90FD-D853A25A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3C64A91D-E535-4C24-A0E3-96A3810E3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FC4867-BA3E-4F8E-AB23-684F34DF3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4"/>
            <a:ext cx="5545137" cy="3853211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Literature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7D98D-6710-41D2-B258-E1A1059D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5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788B34-4190-4916-9048-47720EA5A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85" y="346583"/>
            <a:ext cx="11097551" cy="1332000"/>
          </a:xfrm>
        </p:spPr>
        <p:txBody>
          <a:bodyPr/>
          <a:lstStyle/>
          <a:p>
            <a:pPr algn="ctr"/>
            <a:r>
              <a:rPr lang="en-US" sz="4500"/>
              <a:t>Types of Algorithms used in Past Studies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BA415A0-3B77-43FB-A408-5F1DA4B0A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476" y="1463698"/>
            <a:ext cx="3563936" cy="535354"/>
          </a:xfrm>
        </p:spPr>
        <p:txBody>
          <a:bodyPr/>
          <a:lstStyle/>
          <a:p>
            <a:pPr algn="ctr"/>
            <a:r>
              <a:rPr lang="en-US" sz="1800"/>
              <a:t>Single Machine Learning Algorithm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598ECEC-4413-4244-8F21-0076EC511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924251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b="1"/>
              <a:t>Support vector machine </a:t>
            </a:r>
            <a:r>
              <a:rPr lang="en-US"/>
              <a:t>(SVM) and </a:t>
            </a:r>
            <a:r>
              <a:rPr lang="en-US" b="1"/>
              <a:t>ANN</a:t>
            </a:r>
            <a:r>
              <a:rPr lang="en-US"/>
              <a:t> (</a:t>
            </a:r>
            <a:r>
              <a:rPr lang="en-US" err="1"/>
              <a:t>Gegic</a:t>
            </a:r>
            <a:r>
              <a:rPr lang="en-US"/>
              <a:t> et al., 2019). Dataset collected from web portal autopijaca.ba using web scraper.</a:t>
            </a:r>
          </a:p>
          <a:p>
            <a:pPr lvl="0"/>
            <a:r>
              <a:rPr lang="en-US" b="1"/>
              <a:t>K-nearest neighbors </a:t>
            </a:r>
            <a:r>
              <a:rPr lang="en-US"/>
              <a:t>(KNN) </a:t>
            </a:r>
            <a:r>
              <a:rPr lang="en-US" b="1"/>
              <a:t>regressor</a:t>
            </a:r>
            <a:r>
              <a:rPr lang="en-US"/>
              <a:t>, </a:t>
            </a:r>
            <a:r>
              <a:rPr lang="en-US" b="1"/>
              <a:t>linear regression</a:t>
            </a:r>
            <a:r>
              <a:rPr lang="en-US"/>
              <a:t>, and </a:t>
            </a:r>
            <a:r>
              <a:rPr lang="en-US" b="1"/>
              <a:t>decision tree regressor</a:t>
            </a:r>
            <a:r>
              <a:rPr lang="en-US"/>
              <a:t> (</a:t>
            </a:r>
            <a:r>
              <a:rPr lang="en-US" err="1"/>
              <a:t>Gajera</a:t>
            </a:r>
            <a:r>
              <a:rPr lang="en-US"/>
              <a:t> et al., 2021)</a:t>
            </a:r>
          </a:p>
          <a:p>
            <a:pPr lvl="0"/>
            <a:r>
              <a:rPr lang="en-US" b="1"/>
              <a:t>Linear regression </a:t>
            </a:r>
            <a:r>
              <a:rPr lang="en-US"/>
              <a:t>(Asghar et al., 2021). Dataset collected on Kaggle.</a:t>
            </a:r>
          </a:p>
          <a:p>
            <a:pPr lvl="0"/>
            <a:r>
              <a:rPr lang="en-US" b="1"/>
              <a:t>Linear regression </a:t>
            </a:r>
            <a:r>
              <a:rPr lang="en-US"/>
              <a:t>and </a:t>
            </a:r>
            <a:r>
              <a:rPr lang="en-US" b="1"/>
              <a:t>decision tree </a:t>
            </a:r>
            <a:r>
              <a:rPr lang="sv-SE"/>
              <a:t>(Gupta, Kumar, Kumar, &amp; Singh, 2021)</a:t>
            </a:r>
          </a:p>
          <a:p>
            <a:pPr lvl="0"/>
            <a:r>
              <a:rPr lang="en-US" b="1"/>
              <a:t>Multiple linear regression </a:t>
            </a:r>
            <a:r>
              <a:rPr lang="en-US"/>
              <a:t>(</a:t>
            </a:r>
            <a:r>
              <a:rPr lang="en-US" err="1"/>
              <a:t>Venkatasubbu</a:t>
            </a:r>
            <a:r>
              <a:rPr lang="en-US"/>
              <a:t> &amp; Ganesh, 2019), (</a:t>
            </a:r>
            <a:r>
              <a:rPr lang="en-US" err="1"/>
              <a:t>Monburinon</a:t>
            </a:r>
            <a:r>
              <a:rPr lang="en-US"/>
              <a:t> et al., 2018).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A63626D-0E6E-4023-ABFC-A744C98621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/>
          <a:lstStyle/>
          <a:p>
            <a:pPr algn="ctr"/>
            <a:r>
              <a:rPr lang="en-US" sz="1800"/>
              <a:t>Single Machine Learning Algorithms with Regularization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58E9390-685C-4BAD-BFAD-EC56E81C47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088527"/>
          </a:xfrm>
        </p:spPr>
        <p:txBody>
          <a:bodyPr>
            <a:normAutofit/>
          </a:bodyPr>
          <a:lstStyle/>
          <a:p>
            <a:pPr lvl="0"/>
            <a:r>
              <a:rPr lang="en-US" b="1"/>
              <a:t>Lasso regression </a:t>
            </a:r>
            <a:r>
              <a:rPr lang="en-US"/>
              <a:t>(</a:t>
            </a:r>
            <a:r>
              <a:rPr lang="en-US" err="1"/>
              <a:t>Venkatasubbu</a:t>
            </a:r>
            <a:r>
              <a:rPr lang="en-US"/>
              <a:t> &amp; Ganesh, 2019), (</a:t>
            </a:r>
            <a:r>
              <a:rPr lang="en-US" err="1"/>
              <a:t>Amik</a:t>
            </a:r>
            <a:r>
              <a:rPr lang="en-US"/>
              <a:t>, Lanard, </a:t>
            </a:r>
            <a:r>
              <a:rPr lang="en-US" err="1"/>
              <a:t>Ismat</a:t>
            </a:r>
            <a:r>
              <a:rPr lang="en-US"/>
              <a:t>, &amp; </a:t>
            </a:r>
            <a:r>
              <a:rPr lang="en-US" err="1"/>
              <a:t>Momen</a:t>
            </a:r>
            <a:r>
              <a:rPr lang="en-US"/>
              <a:t>, 2021). Datasets collected from 2005 Central Edition of the Kelly Blue Book and portal </a:t>
            </a:r>
            <a:r>
              <a:rPr lang="en-US">
                <a:hlinkClick r:id="rId2"/>
              </a:rPr>
              <a:t>https://bikroy.com</a:t>
            </a:r>
            <a:r>
              <a:rPr lang="en-US"/>
              <a:t>, respectively,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4A9BC34-CFDB-4D7A-8D6C-1CE608D090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188363" y="1463698"/>
            <a:ext cx="3566160" cy="535354"/>
          </a:xfrm>
        </p:spPr>
        <p:txBody>
          <a:bodyPr/>
          <a:lstStyle/>
          <a:p>
            <a:pPr algn="ctr"/>
            <a:r>
              <a:rPr lang="en-US" sz="1800"/>
              <a:t>Ensemble Machine Learning Algorithms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D014E48-5DD9-49CE-AD5B-0FEF69204F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4079842"/>
          </a:xfrm>
        </p:spPr>
        <p:txBody>
          <a:bodyPr>
            <a:normAutofit fontScale="92500"/>
          </a:bodyPr>
          <a:lstStyle/>
          <a:p>
            <a:pPr lvl="0"/>
            <a:r>
              <a:rPr lang="en-US"/>
              <a:t>Bagging ensemble algorithm (</a:t>
            </a:r>
            <a:r>
              <a:rPr lang="en-US" b="1"/>
              <a:t>random forest</a:t>
            </a:r>
            <a:r>
              <a:rPr lang="en-US"/>
              <a:t>) (</a:t>
            </a:r>
            <a:r>
              <a:rPr lang="en-US" err="1"/>
              <a:t>Gegic</a:t>
            </a:r>
            <a:r>
              <a:rPr lang="en-US"/>
              <a:t> et al., 2019),  (</a:t>
            </a:r>
            <a:r>
              <a:rPr lang="en-US" err="1"/>
              <a:t>Longani</a:t>
            </a:r>
            <a:r>
              <a:rPr lang="en-US"/>
              <a:t> et al., 2021), which dataset collected on Science Direct, (</a:t>
            </a:r>
            <a:r>
              <a:rPr lang="en-US" err="1"/>
              <a:t>Gajera</a:t>
            </a:r>
            <a:r>
              <a:rPr lang="en-US"/>
              <a:t> et al., 2021), (Gupta et al., 2021)</a:t>
            </a:r>
          </a:p>
          <a:p>
            <a:pPr lvl="0"/>
            <a:r>
              <a:rPr lang="en-US"/>
              <a:t>Boosting ensemble algorithm (</a:t>
            </a:r>
            <a:r>
              <a:rPr lang="en-US" b="1" err="1"/>
              <a:t>XGBoost</a:t>
            </a:r>
            <a:r>
              <a:rPr lang="en-US" b="1"/>
              <a:t> regressor</a:t>
            </a:r>
            <a:r>
              <a:rPr lang="en-US"/>
              <a:t>) (</a:t>
            </a:r>
            <a:r>
              <a:rPr lang="en-US" err="1"/>
              <a:t>Gajera</a:t>
            </a:r>
            <a:r>
              <a:rPr lang="en-US"/>
              <a:t> et al., 2021). Dataset collected from previous consumer.</a:t>
            </a:r>
          </a:p>
          <a:p>
            <a:pPr lvl="0"/>
            <a:r>
              <a:rPr lang="en-US"/>
              <a:t>Boosting ensemble algorithm (</a:t>
            </a:r>
            <a:r>
              <a:rPr lang="en-US" b="1" err="1"/>
              <a:t>XGBoost</a:t>
            </a:r>
            <a:r>
              <a:rPr lang="en-US"/>
              <a:t> and </a:t>
            </a:r>
            <a:r>
              <a:rPr lang="en-US" b="1"/>
              <a:t>gradient boosted method</a:t>
            </a:r>
            <a:r>
              <a:rPr lang="en-US"/>
              <a:t>) (</a:t>
            </a:r>
            <a:r>
              <a:rPr lang="en-US" err="1"/>
              <a:t>Longani</a:t>
            </a:r>
            <a:r>
              <a:rPr lang="en-US"/>
              <a:t> et al., 2021), (</a:t>
            </a:r>
            <a:r>
              <a:rPr lang="en-US" err="1"/>
              <a:t>Monburinon</a:t>
            </a:r>
            <a:r>
              <a:rPr lang="en-US"/>
              <a:t> et al., 2018)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F0A8666-4477-461C-A79D-E91232EE9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33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Placeholder 7" descr="Data Points Digital background">
            <a:extLst>
              <a:ext uri="{FF2B5EF4-FFF2-40B4-BE49-F238E27FC236}">
                <a16:creationId xmlns:a16="http://schemas.microsoft.com/office/drawing/2014/main" id="{5FED7C55-F545-49A1-90FD-D853A25A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3C64A91D-E535-4C24-A0E3-96A3810E3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FC4867-BA3E-4F8E-AB23-684F34DF3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7D98D-6710-41D2-B258-E1A1059D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096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8A00A08-E4E6-4184-B484-E0E03407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171" y="13882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780E404-3121-4F33-AF2D-65F659A97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7675" y="288981"/>
            <a:ext cx="1262947" cy="1335600"/>
            <a:chOff x="2678417" y="2427951"/>
            <a:chExt cx="1262947" cy="1335600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339341D-8322-49F1-91DA-6D115CCA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EB9DB0E-3B0E-411A-9274-448D565CA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3E174092-82D3-44E0-8948-4096232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3034657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/>
              <a:t>Data Preprocessing flowchart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B158E9A-DBF4-4AA7-B6B7-8C8EB2FBD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25249" y="5435090"/>
            <a:ext cx="762805" cy="734873"/>
            <a:chOff x="7950336" y="1300590"/>
            <a:chExt cx="762805" cy="734873"/>
          </a:xfrm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6150ACFD-AEC6-42A3-A5A7-E7AD6B13E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20298" y="1428832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DB4D1217-FEB1-4D2A-80F4-C227B66D7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066503" y="1339815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8">
              <a:extLst>
                <a:ext uri="{FF2B5EF4-FFF2-40B4-BE49-F238E27FC236}">
                  <a16:creationId xmlns:a16="http://schemas.microsoft.com/office/drawing/2014/main" id="{0BCA7138-22BA-4785-8B3D-9D45213E8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17173" y="1608753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C33DF-36C9-49E9-B48D-A320B179C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vert="horz"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BA1B0FB-D917-4C8C-928F-313BD683BF39}" type="slidenum">
              <a:rPr lang="en-US" smtClean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B8232F70-2341-D78F-5246-DC19A703F7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3164" y="549274"/>
            <a:ext cx="7159025" cy="55586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37967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E174092-82D3-44E0-8948-4096232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3494" y="549275"/>
            <a:ext cx="3017643" cy="3460017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/>
              <a:t>Modeling and model evaluation flowchart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1B0F92C-925A-4D2E-839E-EB381378C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5000" y="4960218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C33DF-36C9-49E9-B48D-A320B179C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vert="horz"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BA1B0FB-D917-4C8C-928F-313BD683BF39}" type="slidenum">
              <a:rPr lang="en-US" smtClean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66AC6412-4DDC-4D05-1572-365FAE222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461" y="1173960"/>
            <a:ext cx="7892639" cy="451007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837715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Freeform: Shape 1030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50" name="Oval 1032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51" name="Oval 103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052" name="Group 1036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053" name="Freeform: Shape 1037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Freeform: Shape 1038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55" name="Oval 1039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6" name="Oval 1040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1057" name="Rectangle 1042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2D3031-8E03-7CC2-14D7-124EAE969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802" y="620918"/>
            <a:ext cx="1506536" cy="984885"/>
          </a:xfrm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/>
              <a:t>Tools</a:t>
            </a:r>
          </a:p>
        </p:txBody>
      </p:sp>
      <p:sp>
        <p:nvSpPr>
          <p:cNvPr id="1058" name="Rectangle 1044">
            <a:extLst>
              <a:ext uri="{FF2B5EF4-FFF2-40B4-BE49-F238E27FC236}">
                <a16:creationId xmlns:a16="http://schemas.microsoft.com/office/drawing/2014/main" id="{31ACE9CC-FA52-49A8-A8CB-4C6772C48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83434"/>
            <a:ext cx="12192000" cy="4774566"/>
          </a:xfrm>
          <a:prstGeom prst="rect">
            <a:avLst/>
          </a:prstGeom>
          <a:solidFill>
            <a:schemeClr val="bg2">
              <a:lumMod val="50000"/>
              <a:lumOff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46">
            <a:extLst>
              <a:ext uri="{FF2B5EF4-FFF2-40B4-BE49-F238E27FC236}">
                <a16:creationId xmlns:a16="http://schemas.microsoft.com/office/drawing/2014/main" id="{28B56926-F216-4281-9196-1495BD306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27A3B-B0EB-2D4F-D661-0FC39D8B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vert="horz"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BA1B0FB-D917-4C8C-928F-313BD683BF39}" type="slidenum">
              <a:rPr lang="en-US" smtClean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FFCDE1D6-04AE-CAE0-E4FA-79793B37CA21}"/>
              </a:ext>
            </a:extLst>
          </p:cNvPr>
          <p:cNvSpPr txBox="1">
            <a:spLocks/>
          </p:cNvSpPr>
          <p:nvPr/>
        </p:nvSpPr>
        <p:spPr>
          <a:xfrm>
            <a:off x="8259083" y="632086"/>
            <a:ext cx="1506536" cy="98488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MY"/>
              <a:t>Data</a:t>
            </a:r>
          </a:p>
        </p:txBody>
      </p:sp>
      <p:pic>
        <p:nvPicPr>
          <p:cNvPr id="20" name="Picture 8">
            <a:extLst>
              <a:ext uri="{FF2B5EF4-FFF2-40B4-BE49-F238E27FC236}">
                <a16:creationId xmlns:a16="http://schemas.microsoft.com/office/drawing/2014/main" id="{6A47CBD9-8929-C408-34E4-54CB6523F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5000" y1="42428" x2="45000" y2="42428"/>
                        <a14:foregroundMark x1="39625" y1="41906" x2="39625" y2="41906"/>
                        <a14:foregroundMark x1="33625" y1="44778" x2="33625" y2="44778"/>
                        <a14:foregroundMark x1="22292" y1="42428" x2="22292" y2="42428"/>
                        <a14:foregroundMark x1="12000" y1="46736" x2="12000" y2="46736"/>
                        <a14:foregroundMark x1="39167" y1="24543" x2="39167" y2="24543"/>
                        <a14:foregroundMark x1="58083" y1="52480" x2="58083" y2="52480"/>
                        <a14:foregroundMark x1="64833" y1="52089" x2="64833" y2="52089"/>
                        <a14:foregroundMark x1="70500" y1="50131" x2="70500" y2="50131"/>
                        <a14:foregroundMark x1="70833" y1="22715" x2="70833" y2="22715"/>
                        <a14:foregroundMark x1="78167" y1="49608" x2="78167" y2="49608"/>
                        <a14:foregroundMark x1="84625" y1="48172" x2="84625" y2="481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703" y="2350454"/>
            <a:ext cx="3565297" cy="113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479CBA74-0127-7D7A-35F4-E383E4349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286314"/>
              </p:ext>
            </p:extLst>
          </p:nvPr>
        </p:nvGraphicFramePr>
        <p:xfrm>
          <a:off x="6517744" y="3700405"/>
          <a:ext cx="4989213" cy="1559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1637">
                  <a:extLst>
                    <a:ext uri="{9D8B030D-6E8A-4147-A177-3AD203B41FA5}">
                      <a16:colId xmlns:a16="http://schemas.microsoft.com/office/drawing/2014/main" val="1658898534"/>
                    </a:ext>
                  </a:extLst>
                </a:gridCol>
                <a:gridCol w="3447576">
                  <a:extLst>
                    <a:ext uri="{9D8B030D-6E8A-4147-A177-3AD203B41FA5}">
                      <a16:colId xmlns:a16="http://schemas.microsoft.com/office/drawing/2014/main" val="2486406912"/>
                    </a:ext>
                  </a:extLst>
                </a:gridCol>
              </a:tblGrid>
              <a:tr h="389944">
                <a:tc>
                  <a:txBody>
                    <a:bodyPr/>
                    <a:lstStyle/>
                    <a:p>
                      <a:r>
                        <a:rPr lang="en-US"/>
                        <a:t>Date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13/04/2022 – 12/05/2022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0315716"/>
                  </a:ext>
                </a:extLst>
              </a:tr>
              <a:tr h="389944">
                <a:tc>
                  <a:txBody>
                    <a:bodyPr/>
                    <a:lstStyle/>
                    <a:p>
                      <a:r>
                        <a:rPr lang="en-US"/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21455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80293"/>
                  </a:ext>
                </a:extLst>
              </a:tr>
              <a:tr h="389944">
                <a:tc>
                  <a:txBody>
                    <a:bodyPr/>
                    <a:lstStyle/>
                    <a:p>
                      <a:r>
                        <a:rPr lang="en-US"/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560167"/>
                  </a:ext>
                </a:extLst>
              </a:tr>
              <a:tr h="389944">
                <a:tc>
                  <a:txBody>
                    <a:bodyPr/>
                    <a:lstStyle/>
                    <a:p>
                      <a:r>
                        <a:rPr lang="en-US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905 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5837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E8ABFCF-83BA-B273-139A-29F79536A61F}"/>
              </a:ext>
            </a:extLst>
          </p:cNvPr>
          <p:cNvSpPr txBox="1"/>
          <p:nvPr/>
        </p:nvSpPr>
        <p:spPr>
          <a:xfrm>
            <a:off x="1689215" y="2621345"/>
            <a:ext cx="2449710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err="1"/>
              <a:t>BeautifulSoup</a:t>
            </a:r>
            <a:endParaRPr lang="en-US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Selenium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Pandas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NumPy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Matplotlib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Seaborn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Scikit-learn</a:t>
            </a:r>
          </a:p>
        </p:txBody>
      </p:sp>
    </p:spTree>
    <p:extLst>
      <p:ext uri="{BB962C8B-B14F-4D97-AF65-F5344CB8AC3E}">
        <p14:creationId xmlns:p14="http://schemas.microsoft.com/office/powerpoint/2010/main" val="161477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1D86C-B75E-9D0C-00C9-1B798EF30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Data Preprocessing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F7F6E-EFD0-4D8B-48DC-CC04E626D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/>
              <a:t>Exploratory Data analysis (EDA)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08B9B-AFDD-5796-36E0-82299A79E4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Better understanding of the data with charts</a:t>
            </a:r>
          </a:p>
          <a:p>
            <a:r>
              <a:rPr lang="en-US"/>
              <a:t>Detecting outliers using boxplot</a:t>
            </a:r>
          </a:p>
          <a:p>
            <a:r>
              <a:rPr lang="en-US"/>
              <a:t>Identify the features with the highest listings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378BB-3B1C-ADA8-C87C-0CF341EA84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en-US"/>
              <a:t>Data cleaning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7FBFBB-DFB4-406F-157D-73809C24DF7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/>
              <a:t>Dropped irrelevant columns such as latitude, longitude, and title status</a:t>
            </a:r>
          </a:p>
          <a:p>
            <a:r>
              <a:rPr lang="en-US"/>
              <a:t>Replaced missing values with ‘unknown’ category</a:t>
            </a:r>
          </a:p>
          <a:p>
            <a:r>
              <a:rPr lang="en-US"/>
              <a:t>Removed an outlier in SUV car type</a:t>
            </a:r>
          </a:p>
          <a:p>
            <a:r>
              <a:rPr lang="en-US"/>
              <a:t>Handled extreme values for price and odometer</a:t>
            </a:r>
          </a:p>
          <a:p>
            <a:r>
              <a:rPr lang="en-US"/>
              <a:t>Handled noise in year column</a:t>
            </a:r>
            <a:br>
              <a:rPr lang="en-US"/>
            </a:br>
            <a:r>
              <a:rPr lang="en-US"/>
              <a:t>“2006.” </a:t>
            </a:r>
            <a:r>
              <a:rPr lang="en-US">
                <a:sym typeface="Wingdings" pitchFamily="2" charset="2"/>
              </a:rPr>
              <a:t> “2006”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183FB9-7499-00EC-91BA-385C4D784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/>
              <a:t>Data transformation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5B6A244-6783-7A17-ADA6-A0D96CE6DAD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Split ‘year make model’ into 4 separate columns: ‘year’, ‘brand’, ‘model’, and ‘variant’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DA40506-FB26-7346-FBE4-FA1CEAAFD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9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721EA-BFD8-3941-0E48-B827703E6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192439"/>
          </a:xfrm>
        </p:spPr>
        <p:txBody>
          <a:bodyPr/>
          <a:lstStyle/>
          <a:p>
            <a:pPr algn="ctr"/>
            <a:r>
              <a:rPr lang="en-US"/>
              <a:t>Hyperparameter Tuning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F54C60-1124-10A7-CA79-7C31B963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5DD01B-E23A-740F-69D2-56ED96CE8A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484761"/>
              </p:ext>
            </p:extLst>
          </p:nvPr>
        </p:nvGraphicFramePr>
        <p:xfrm>
          <a:off x="1783755" y="2194333"/>
          <a:ext cx="8624490" cy="914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24933">
                  <a:extLst>
                    <a:ext uri="{9D8B030D-6E8A-4147-A177-3AD203B41FA5}">
                      <a16:colId xmlns:a16="http://schemas.microsoft.com/office/drawing/2014/main" val="125012369"/>
                    </a:ext>
                  </a:extLst>
                </a:gridCol>
                <a:gridCol w="1514333">
                  <a:extLst>
                    <a:ext uri="{9D8B030D-6E8A-4147-A177-3AD203B41FA5}">
                      <a16:colId xmlns:a16="http://schemas.microsoft.com/office/drawing/2014/main" val="3308695239"/>
                    </a:ext>
                  </a:extLst>
                </a:gridCol>
                <a:gridCol w="1716245">
                  <a:extLst>
                    <a:ext uri="{9D8B030D-6E8A-4147-A177-3AD203B41FA5}">
                      <a16:colId xmlns:a16="http://schemas.microsoft.com/office/drawing/2014/main" val="103370738"/>
                    </a:ext>
                  </a:extLst>
                </a:gridCol>
                <a:gridCol w="1672978">
                  <a:extLst>
                    <a:ext uri="{9D8B030D-6E8A-4147-A177-3AD203B41FA5}">
                      <a16:colId xmlns:a16="http://schemas.microsoft.com/office/drawing/2014/main" val="115182490"/>
                    </a:ext>
                  </a:extLst>
                </a:gridCol>
                <a:gridCol w="1456645">
                  <a:extLst>
                    <a:ext uri="{9D8B030D-6E8A-4147-A177-3AD203B41FA5}">
                      <a16:colId xmlns:a16="http://schemas.microsoft.com/office/drawing/2014/main" val="3356489000"/>
                    </a:ext>
                  </a:extLst>
                </a:gridCol>
                <a:gridCol w="1139356">
                  <a:extLst>
                    <a:ext uri="{9D8B030D-6E8A-4147-A177-3AD203B41FA5}">
                      <a16:colId xmlns:a16="http://schemas.microsoft.com/office/drawing/2014/main" val="19674900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 rtl="0" fontAlgn="base"/>
                      <a:r>
                        <a:rPr lang="en-US" sz="1600" b="0">
                          <a:effectLst/>
                        </a:rPr>
                        <a:t>Name </a:t>
                      </a:r>
                      <a:endParaRPr lang="en-US" sz="3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</a:rPr>
                        <a:t>n_estimators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3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</a:rPr>
                        <a:t>min_samples_split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3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</a:rPr>
                        <a:t>min_samples_leaf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3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</a:rPr>
                        <a:t>max_depth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3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</a:rPr>
                        <a:t>bootstrap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3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646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 rtl="0" fontAlgn="base"/>
                      <a:r>
                        <a:rPr lang="en-US" sz="1600" b="0">
                          <a:effectLst/>
                        </a:rPr>
                        <a:t>Value </a:t>
                      </a:r>
                      <a:endParaRPr lang="en-US" sz="3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</a:rPr>
                        <a:t>30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3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</a:rPr>
                        <a:t>2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3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</a:rPr>
                        <a:t>1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3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</a:rPr>
                        <a:t>30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3600" b="0" i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600" b="1">
                          <a:effectLst/>
                        </a:rPr>
                        <a:t>True</a:t>
                      </a:r>
                      <a:r>
                        <a:rPr lang="en-US" sz="1600" b="0">
                          <a:effectLst/>
                        </a:rPr>
                        <a:t> </a:t>
                      </a:r>
                      <a:endParaRPr lang="en-US" sz="3600" b="0" i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831104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B26C3EB-E247-9B0A-4D56-781B8A987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327163"/>
              </p:ext>
            </p:extLst>
          </p:nvPr>
        </p:nvGraphicFramePr>
        <p:xfrm>
          <a:off x="2032000" y="425171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20310392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3355404"/>
                    </a:ext>
                  </a:extLst>
                </a:gridCol>
                <a:gridCol w="1798394">
                  <a:extLst>
                    <a:ext uri="{9D8B030D-6E8A-4147-A177-3AD203B41FA5}">
                      <a16:colId xmlns:a16="http://schemas.microsoft.com/office/drawing/2014/main" val="1705614603"/>
                    </a:ext>
                  </a:extLst>
                </a:gridCol>
                <a:gridCol w="1452806">
                  <a:extLst>
                    <a:ext uri="{9D8B030D-6E8A-4147-A177-3AD203B41FA5}">
                      <a16:colId xmlns:a16="http://schemas.microsoft.com/office/drawing/2014/main" val="4109742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598207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R²</a:t>
                      </a:r>
                      <a:endParaRPr lang="en-US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281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0" i="0">
                          <a:solidFill>
                            <a:srgbClr val="FFFFFF"/>
                          </a:solidFill>
                          <a:effectLst/>
                          <a:latin typeface="Gill Sans MT" panose="020B0502020104020203" pitchFamily="34" charset="0"/>
                        </a:rPr>
                        <a:t>8,419.74​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0" i="0">
                          <a:solidFill>
                            <a:srgbClr val="FFFFFF"/>
                          </a:solidFill>
                          <a:effectLst/>
                          <a:latin typeface="Gill Sans MT" panose="020B0502020104020203" pitchFamily="34" charset="0"/>
                        </a:rPr>
                        <a:t>9,349,980,784.52​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0" i="0">
                          <a:solidFill>
                            <a:srgbClr val="FFFFFF"/>
                          </a:solidFill>
                          <a:effectLst/>
                          <a:latin typeface="Gill Sans MT" panose="020B0502020104020203" pitchFamily="34" charset="0"/>
                        </a:rPr>
                        <a:t>96,695.3​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0" i="0">
                          <a:solidFill>
                            <a:srgbClr val="FFFFFF"/>
                          </a:solidFill>
                          <a:effectLst/>
                          <a:latin typeface="Gill Sans MT" panose="020B0502020104020203" pitchFamily="34" charset="0"/>
                        </a:rPr>
                        <a:t>-3.973​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741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After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0" i="0">
                          <a:solidFill>
                            <a:srgbClr val="FFFFFF"/>
                          </a:solidFill>
                          <a:effectLst/>
                          <a:latin typeface="Gill Sans MT" panose="020B0502020104020203" pitchFamily="34" charset="0"/>
                        </a:rPr>
                        <a:t>7,854.93​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0" i="0">
                          <a:solidFill>
                            <a:srgbClr val="FFFFFF"/>
                          </a:solidFill>
                          <a:effectLst/>
                          <a:latin typeface="Gill Sans MT" panose="020B0502020104020203" pitchFamily="34" charset="0"/>
                        </a:rPr>
                        <a:t>562,402,465.8​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0" i="0">
                          <a:solidFill>
                            <a:srgbClr val="FFFFFF"/>
                          </a:solidFill>
                          <a:effectLst/>
                          <a:latin typeface="Gill Sans MT" panose="020B0502020104020203" pitchFamily="34" charset="0"/>
                        </a:rPr>
                        <a:t>74,993.62​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0" i="0">
                          <a:solidFill>
                            <a:srgbClr val="FFFFFF"/>
                          </a:solidFill>
                          <a:effectLst/>
                          <a:latin typeface="Gill Sans MT" panose="020B0502020104020203" pitchFamily="34" charset="0"/>
                        </a:rPr>
                        <a:t>0.53​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165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998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721EA-BFD8-3941-0E48-B827703E6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192439"/>
          </a:xfrm>
        </p:spPr>
        <p:txBody>
          <a:bodyPr/>
          <a:lstStyle/>
          <a:p>
            <a:pPr algn="ctr"/>
            <a:r>
              <a:rPr lang="en-US"/>
              <a:t>Algorithms &amp; Results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CF54C60-1124-10A7-CA79-7C31B963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21197B8B-EEBB-B95A-6EB5-431FF2AAF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327582"/>
              </p:ext>
            </p:extLst>
          </p:nvPr>
        </p:nvGraphicFramePr>
        <p:xfrm>
          <a:off x="2358571" y="2711752"/>
          <a:ext cx="8128000" cy="239268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2671769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6679912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9482286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84406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MAE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RMSE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05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Linear Regression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11,639.06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791,074,506.9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28,126.05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20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Polynomial Regression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11,933.74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838,565,306.72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28,957.99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1370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Lasso Regression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11,640.89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791,165,297.88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28,127.66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8099487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</a:rPr>
                        <a:t>Random Forest Regressor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rgbClr val="FF0000"/>
                          </a:solidFill>
                        </a:rPr>
                        <a:t>7,854.93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5,624,042,465.8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74,993.62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99744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C1FE885-2364-0FFE-797A-BF1D99BEE978}"/>
              </a:ext>
            </a:extLst>
          </p:cNvPr>
          <p:cNvSpPr txBox="1"/>
          <p:nvPr/>
        </p:nvSpPr>
        <p:spPr>
          <a:xfrm>
            <a:off x="2591900" y="5450265"/>
            <a:ext cx="8127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R² = </a:t>
            </a:r>
            <a:r>
              <a:rPr lang="en-US" sz="2800" b="1">
                <a:solidFill>
                  <a:srgbClr val="FF0000"/>
                </a:solidFill>
              </a:rPr>
              <a:t>0.53</a:t>
            </a:r>
            <a:r>
              <a:rPr lang="en-US" sz="2000" b="1">
                <a:solidFill>
                  <a:srgbClr val="FFFFFF"/>
                </a:solidFill>
              </a:rPr>
              <a:t> (Random Forest Regressor) </a:t>
            </a:r>
          </a:p>
        </p:txBody>
      </p:sp>
    </p:spTree>
    <p:extLst>
      <p:ext uri="{BB962C8B-B14F-4D97-AF65-F5344CB8AC3E}">
        <p14:creationId xmlns:p14="http://schemas.microsoft.com/office/powerpoint/2010/main" val="3244325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81E8936-2270-47FE-94A4-398CB123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/>
          <a:lstStyle/>
          <a:p>
            <a:r>
              <a:rPr lang="en-US"/>
              <a:t>Summary</a:t>
            </a:r>
          </a:p>
        </p:txBody>
      </p:sp>
      <p:pic>
        <p:nvPicPr>
          <p:cNvPr id="16" name="Picture Placeholder 15" descr="Data Points Digital background">
            <a:extLst>
              <a:ext uri="{FF2B5EF4-FFF2-40B4-BE49-F238E27FC236}">
                <a16:creationId xmlns:a16="http://schemas.microsoft.com/office/drawing/2014/main" id="{361E9ADB-7377-4CF1-9AE4-AEFBDEBEEEE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3776472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Subtitle 22">
            <a:extLst>
              <a:ext uri="{FF2B5EF4-FFF2-40B4-BE49-F238E27FC236}">
                <a16:creationId xmlns:a16="http://schemas.microsoft.com/office/drawing/2014/main" id="{390A0791-74F8-38AA-4C77-18C7A43ACD52}"/>
              </a:ext>
            </a:extLst>
          </p:cNvPr>
          <p:cNvSpPr txBox="1">
            <a:spLocks/>
          </p:cNvSpPr>
          <p:nvPr/>
        </p:nvSpPr>
        <p:spPr>
          <a:xfrm>
            <a:off x="5459923" y="4157371"/>
            <a:ext cx="5786360" cy="2265216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>
                <a:solidFill>
                  <a:srgbClr val="F2F2F2"/>
                </a:solidFill>
                <a:ea typeface="+mn-lt"/>
                <a:cs typeface="+mn-lt"/>
              </a:rPr>
              <a:t>We identified three variables with the highest importance (</a:t>
            </a:r>
            <a:r>
              <a:rPr lang="en-US" sz="1600" b="1">
                <a:solidFill>
                  <a:srgbClr val="F2F2F2"/>
                </a:solidFill>
                <a:ea typeface="+mn-lt"/>
                <a:cs typeface="+mn-lt"/>
              </a:rPr>
              <a:t>Odometer / Fuel / Brand)</a:t>
            </a:r>
          </a:p>
          <a:p>
            <a:pPr>
              <a:lnSpc>
                <a:spcPct val="100000"/>
              </a:lnSpc>
            </a:pPr>
            <a:r>
              <a:rPr lang="en-US" sz="1600" b="1">
                <a:solidFill>
                  <a:srgbClr val="F2F2F2"/>
                </a:solidFill>
                <a:ea typeface="+mn-lt"/>
                <a:cs typeface="+mn-lt"/>
              </a:rPr>
              <a:t>Random Forest </a:t>
            </a:r>
            <a:r>
              <a:rPr lang="en-US" sz="1600">
                <a:solidFill>
                  <a:srgbClr val="F2F2F2"/>
                </a:solidFill>
                <a:ea typeface="+mn-lt"/>
                <a:cs typeface="+mn-lt"/>
              </a:rPr>
              <a:t>is the best performing algorithm amongst the ones used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>
                <a:solidFill>
                  <a:srgbClr val="F2F2F2"/>
                </a:solidFill>
                <a:ea typeface="+mn-lt"/>
                <a:cs typeface="+mn-lt"/>
              </a:rPr>
              <a:t>Future Improvements:</a:t>
            </a:r>
          </a:p>
          <a:p>
            <a:pPr>
              <a:lnSpc>
                <a:spcPct val="100000"/>
              </a:lnSpc>
            </a:pPr>
            <a:r>
              <a:rPr lang="en-US" sz="1600">
                <a:solidFill>
                  <a:srgbClr val="F2F2F2"/>
                </a:solidFill>
                <a:ea typeface="+mn-lt"/>
                <a:cs typeface="+mn-lt"/>
              </a:rPr>
              <a:t>Feature Engineer important variables (e.g. condition, </a:t>
            </a:r>
            <a:r>
              <a:rPr lang="en-US" sz="1600" err="1">
                <a:solidFill>
                  <a:srgbClr val="F2F2F2"/>
                </a:solidFill>
                <a:ea typeface="+mn-lt"/>
                <a:cs typeface="+mn-lt"/>
              </a:rPr>
              <a:t>vehicleType</a:t>
            </a:r>
            <a:r>
              <a:rPr lang="en-US" sz="1600">
                <a:solidFill>
                  <a:srgbClr val="F2F2F2"/>
                </a:solidFill>
                <a:ea typeface="+mn-lt"/>
                <a:cs typeface="+mn-lt"/>
              </a:rPr>
              <a:t>) and additional data sources (e.g. </a:t>
            </a:r>
            <a:r>
              <a:rPr lang="en-US" sz="1600" err="1">
                <a:solidFill>
                  <a:srgbClr val="F2F2F2"/>
                </a:solidFill>
                <a:ea typeface="+mn-lt"/>
                <a:cs typeface="+mn-lt"/>
              </a:rPr>
              <a:t>Carsome</a:t>
            </a:r>
            <a:r>
              <a:rPr lang="en-US" sz="1600">
                <a:solidFill>
                  <a:srgbClr val="F2F2F2"/>
                </a:solidFill>
                <a:ea typeface="+mn-lt"/>
                <a:cs typeface="+mn-lt"/>
              </a:rPr>
              <a:t>, </a:t>
            </a:r>
            <a:r>
              <a:rPr lang="en-US" sz="1600" err="1">
                <a:solidFill>
                  <a:srgbClr val="F2F2F2"/>
                </a:solidFill>
                <a:ea typeface="+mn-lt"/>
                <a:cs typeface="+mn-lt"/>
              </a:rPr>
              <a:t>Mudah</a:t>
            </a:r>
            <a:r>
              <a:rPr lang="en-US" sz="1600">
                <a:solidFill>
                  <a:srgbClr val="F2F2F2"/>
                </a:solidFill>
                <a:ea typeface="+mn-lt"/>
                <a:cs typeface="+mn-lt"/>
              </a:rPr>
              <a:t>, </a:t>
            </a:r>
            <a:r>
              <a:rPr lang="en-US" sz="1600" err="1">
                <a:solidFill>
                  <a:srgbClr val="F2F2F2"/>
                </a:solidFill>
                <a:ea typeface="+mn-lt"/>
                <a:cs typeface="+mn-lt"/>
              </a:rPr>
              <a:t>Carwow</a:t>
            </a:r>
            <a:r>
              <a:rPr lang="en-US" sz="1600">
                <a:solidFill>
                  <a:srgbClr val="F2F2F2"/>
                </a:solidFill>
                <a:ea typeface="+mn-lt"/>
                <a:cs typeface="+mn-lt"/>
              </a:rPr>
              <a:t>)</a:t>
            </a:r>
            <a:endParaRPr lang="en-US" sz="1100">
              <a:solidFill>
                <a:srgbClr val="F2F2F2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sz="1600">
              <a:solidFill>
                <a:srgbClr val="F2F2F2"/>
              </a:solidFill>
              <a:ea typeface="+mn-lt"/>
              <a:cs typeface="+mn-lt"/>
            </a:endParaRPr>
          </a:p>
          <a:p>
            <a:endParaRPr lang="en-US" sz="1600">
              <a:solidFill>
                <a:srgbClr val="F2F2F2"/>
              </a:solidFill>
              <a:ea typeface="+mn-lt"/>
              <a:cs typeface="+mn-lt"/>
            </a:endParaRPr>
          </a:p>
          <a:p>
            <a:endParaRPr lang="en-US" sz="1800">
              <a:solidFill>
                <a:srgbClr val="F2F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8907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8E5E4638-9BCB-4C2E-914F-CC868E202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By: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Prasanta A/L Sathasivam 17157826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Khor Yi </a:t>
            </a:r>
            <a:r>
              <a:rPr lang="en-US" err="1">
                <a:ea typeface="+mn-lt"/>
                <a:cs typeface="+mn-lt"/>
              </a:rPr>
              <a:t>Lun</a:t>
            </a:r>
            <a:r>
              <a:rPr lang="en-US">
                <a:ea typeface="+mn-lt"/>
                <a:cs typeface="+mn-lt"/>
              </a:rPr>
              <a:t> S2018292</a:t>
            </a:r>
          </a:p>
          <a:p>
            <a:pPr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Sim Soon </a:t>
            </a:r>
            <a:r>
              <a:rPr lang="en-US" err="1">
                <a:ea typeface="+mn-lt"/>
                <a:cs typeface="+mn-lt"/>
              </a:rPr>
              <a:t>Jin</a:t>
            </a:r>
            <a:r>
              <a:rPr lang="en-US">
                <a:ea typeface="+mn-lt"/>
                <a:cs typeface="+mn-lt"/>
              </a:rPr>
              <a:t> S2043577</a:t>
            </a:r>
          </a:p>
          <a:p>
            <a:pPr>
              <a:lnSpc>
                <a:spcPct val="100000"/>
              </a:lnSpc>
            </a:pPr>
            <a:r>
              <a:rPr lang="en-US" err="1">
                <a:ea typeface="+mn-lt"/>
                <a:cs typeface="+mn-lt"/>
              </a:rPr>
              <a:t>Sajay</a:t>
            </a:r>
            <a:r>
              <a:rPr lang="en-US">
                <a:ea typeface="+mn-lt"/>
                <a:cs typeface="+mn-lt"/>
              </a:rPr>
              <a:t> Thomas Samuel S2102673</a:t>
            </a:r>
          </a:p>
          <a:p>
            <a:endParaRPr lang="en-US">
              <a:ea typeface="+mn-lt"/>
              <a:cs typeface="+mn-lt"/>
            </a:endParaRPr>
          </a:p>
          <a:p>
            <a:endParaRPr lang="en-US">
              <a:ea typeface="+mn-lt"/>
              <a:cs typeface="+mn-lt"/>
            </a:endParaRPr>
          </a:p>
          <a:p>
            <a:endParaRPr lang="en-US" sz="2400">
              <a:solidFill>
                <a:srgbClr val="FFFFFF">
                  <a:alpha val="60000"/>
                </a:srgbClr>
              </a:solidFill>
            </a:endParaRPr>
          </a:p>
        </p:txBody>
      </p:sp>
      <p:pic>
        <p:nvPicPr>
          <p:cNvPr id="27" name="Picture Placeholder 26" descr="Data Points Digital background">
            <a:extLst>
              <a:ext uri="{FF2B5EF4-FFF2-40B4-BE49-F238E27FC236}">
                <a16:creationId xmlns:a16="http://schemas.microsoft.com/office/drawing/2014/main" id="{9E660784-34E2-4CDA-926A-DDD6AAF3504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6248" y="548640"/>
            <a:ext cx="5084064" cy="2880360"/>
          </a:xfrm>
        </p:spPr>
      </p:pic>
      <p:pic>
        <p:nvPicPr>
          <p:cNvPr id="33" name="Picture Placeholder 32" descr="Data Points Digital background">
            <a:extLst>
              <a:ext uri="{FF2B5EF4-FFF2-40B4-BE49-F238E27FC236}">
                <a16:creationId xmlns:a16="http://schemas.microsoft.com/office/drawing/2014/main" id="{48106962-23C6-4DFE-BB3A-E5FFF03F38C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6248" y="3429000"/>
            <a:ext cx="5084064" cy="288036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314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D10F3D66-0109-4903-90B9-66D0E288F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7DAB968-9B52-4EFF-AD39-7657DFEA6E4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62BE440-9634-4380-B142-5DB692420C52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4B18D636-CC10-4B1E-AA38-419DCCF2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>
            <a:normAutofit/>
          </a:bodyPr>
          <a:lstStyle/>
          <a:p>
            <a:r>
              <a:rPr lang="en-US"/>
              <a:t>References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DB251F7-EBE7-46AC-A920-FFE2C5AF68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2" y="1483743"/>
            <a:ext cx="10941155" cy="5023469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sz="1500" err="1">
                <a:effectLst/>
                <a:ea typeface="DengXian" panose="02010600030101010101" pitchFamily="2" charset="-122"/>
              </a:rPr>
              <a:t>Amik</a:t>
            </a:r>
            <a:r>
              <a:rPr lang="en-US" sz="1500">
                <a:effectLst/>
                <a:ea typeface="DengXian" panose="02010600030101010101" pitchFamily="2" charset="-122"/>
              </a:rPr>
              <a:t>, F. R., Lanard, A., </a:t>
            </a:r>
            <a:r>
              <a:rPr lang="en-US" sz="1500" err="1">
                <a:effectLst/>
                <a:ea typeface="DengXian" panose="02010600030101010101" pitchFamily="2" charset="-122"/>
              </a:rPr>
              <a:t>Ismat</a:t>
            </a:r>
            <a:r>
              <a:rPr lang="en-US" sz="1500">
                <a:effectLst/>
                <a:ea typeface="DengXian" panose="02010600030101010101" pitchFamily="2" charset="-122"/>
              </a:rPr>
              <a:t>, A., &amp; </a:t>
            </a:r>
            <a:r>
              <a:rPr lang="en-US" sz="1500" err="1">
                <a:effectLst/>
                <a:ea typeface="DengXian" panose="02010600030101010101" pitchFamily="2" charset="-122"/>
              </a:rPr>
              <a:t>Momen</a:t>
            </a:r>
            <a:r>
              <a:rPr lang="en-US" sz="1500">
                <a:effectLst/>
                <a:ea typeface="DengXian" panose="02010600030101010101" pitchFamily="2" charset="-122"/>
              </a:rPr>
              <a:t>, S. (2021). Application of Machine Learning Techniques to Predict the Price of Pre-Owned Cars in Bangladesh. Information, 12(12), 514. </a:t>
            </a:r>
          </a:p>
          <a:p>
            <a:pPr>
              <a:spcAft>
                <a:spcPts val="0"/>
              </a:spcAft>
            </a:pPr>
            <a:r>
              <a:rPr lang="en-US" sz="1500">
                <a:effectLst/>
                <a:ea typeface="DengXian" panose="02010600030101010101" pitchFamily="2" charset="-122"/>
              </a:rPr>
              <a:t>Asghar, M., Mehmood, K., Yasin, S., &amp; Khan, Z. M. (2021). Used Cars Price Prediction using Machine Learning with Optimal Features. Pakistan Journal of Engineering and Technology, 4(2), 113-119. </a:t>
            </a:r>
          </a:p>
          <a:p>
            <a:pPr>
              <a:spcAft>
                <a:spcPts val="0"/>
              </a:spcAft>
            </a:pPr>
            <a:r>
              <a:rPr lang="en-MY" sz="1500">
                <a:effectLst/>
                <a:ea typeface="DengXian" panose="02010600030101010101" pitchFamily="2" charset="-122"/>
              </a:rPr>
              <a:t>Blanco, S. (2022). New Car Price Keeps Climbing, with Average Now at Almost $47,100. Retrieved from </a:t>
            </a:r>
            <a:r>
              <a:rPr lang="en-MY" sz="1500" u="sng">
                <a:solidFill>
                  <a:srgbClr val="0563C1"/>
                </a:solidFill>
                <a:effectLst/>
                <a:ea typeface="DengXian" panose="02010600030101010101" pitchFamily="2" charset="-122"/>
                <a:hlinkClick r:id="rId3"/>
              </a:rPr>
              <a:t>https://www.caranddriver.com/news/a38748092/new-car-average-sale-prices-47100/</a:t>
            </a:r>
            <a:endParaRPr lang="en-MY" sz="1500" u="sng">
              <a:solidFill>
                <a:srgbClr val="0563C1"/>
              </a:solidFill>
              <a:effectLst/>
              <a:ea typeface="DengXian" panose="02010600030101010101" pitchFamily="2" charset="-122"/>
            </a:endParaRPr>
          </a:p>
          <a:p>
            <a:pPr>
              <a:spcAft>
                <a:spcPts val="0"/>
              </a:spcAft>
            </a:pPr>
            <a:r>
              <a:rPr lang="en-MY" sz="1500" err="1">
                <a:effectLst/>
                <a:ea typeface="DengXian" panose="02010600030101010101" pitchFamily="2" charset="-122"/>
              </a:rPr>
              <a:t>Gegic</a:t>
            </a:r>
            <a:r>
              <a:rPr lang="en-MY" sz="1500">
                <a:effectLst/>
                <a:ea typeface="DengXian" panose="02010600030101010101" pitchFamily="2" charset="-122"/>
              </a:rPr>
              <a:t>, E., </a:t>
            </a:r>
            <a:r>
              <a:rPr lang="en-MY" sz="1500" err="1">
                <a:effectLst/>
                <a:ea typeface="DengXian" panose="02010600030101010101" pitchFamily="2" charset="-122"/>
              </a:rPr>
              <a:t>Isakovic</a:t>
            </a:r>
            <a:r>
              <a:rPr lang="en-MY" sz="1500">
                <a:effectLst/>
                <a:ea typeface="DengXian" panose="02010600030101010101" pitchFamily="2" charset="-122"/>
              </a:rPr>
              <a:t>, B., </a:t>
            </a:r>
            <a:r>
              <a:rPr lang="en-MY" sz="1500" err="1">
                <a:effectLst/>
                <a:ea typeface="DengXian" panose="02010600030101010101" pitchFamily="2" charset="-122"/>
              </a:rPr>
              <a:t>Keco</a:t>
            </a:r>
            <a:r>
              <a:rPr lang="en-MY" sz="1500">
                <a:effectLst/>
                <a:ea typeface="DengXian" panose="02010600030101010101" pitchFamily="2" charset="-122"/>
              </a:rPr>
              <a:t>, D., </a:t>
            </a:r>
            <a:r>
              <a:rPr lang="en-MY" sz="1500" err="1">
                <a:effectLst/>
                <a:ea typeface="DengXian" panose="02010600030101010101" pitchFamily="2" charset="-122"/>
              </a:rPr>
              <a:t>Masetic</a:t>
            </a:r>
            <a:r>
              <a:rPr lang="en-MY" sz="1500">
                <a:effectLst/>
                <a:ea typeface="DengXian" panose="02010600030101010101" pitchFamily="2" charset="-122"/>
              </a:rPr>
              <a:t>, Z., &amp; </a:t>
            </a:r>
            <a:r>
              <a:rPr lang="en-MY" sz="1500" err="1">
                <a:effectLst/>
                <a:ea typeface="DengXian" panose="02010600030101010101" pitchFamily="2" charset="-122"/>
              </a:rPr>
              <a:t>Kevric</a:t>
            </a:r>
            <a:r>
              <a:rPr lang="en-MY" sz="1500">
                <a:effectLst/>
                <a:ea typeface="DengXian" panose="02010600030101010101" pitchFamily="2" charset="-122"/>
              </a:rPr>
              <a:t>, J. (2019). Car price prediction using machine learning techniques. </a:t>
            </a:r>
            <a:r>
              <a:rPr lang="en-MY" sz="1500" i="1">
                <a:effectLst/>
                <a:ea typeface="DengXian" panose="02010600030101010101" pitchFamily="2" charset="-122"/>
              </a:rPr>
              <a:t>TEM Journal, 8</a:t>
            </a:r>
            <a:r>
              <a:rPr lang="en-MY" sz="1500">
                <a:effectLst/>
                <a:ea typeface="DengXian" panose="02010600030101010101" pitchFamily="2" charset="-122"/>
              </a:rPr>
              <a:t>(1), 113. </a:t>
            </a:r>
          </a:p>
          <a:p>
            <a:pPr>
              <a:spcAft>
                <a:spcPts val="0"/>
              </a:spcAft>
            </a:pPr>
            <a:r>
              <a:rPr lang="en-US" sz="1500" err="1">
                <a:effectLst/>
                <a:ea typeface="DengXian" panose="02010600030101010101" pitchFamily="2" charset="-122"/>
              </a:rPr>
              <a:t>Gajera</a:t>
            </a:r>
            <a:r>
              <a:rPr lang="en-US" sz="1500">
                <a:effectLst/>
                <a:ea typeface="DengXian" panose="02010600030101010101" pitchFamily="2" charset="-122"/>
              </a:rPr>
              <a:t>, P., </a:t>
            </a:r>
            <a:r>
              <a:rPr lang="en-US" sz="1500" err="1">
                <a:effectLst/>
                <a:ea typeface="DengXian" panose="02010600030101010101" pitchFamily="2" charset="-122"/>
              </a:rPr>
              <a:t>Gondaliya</a:t>
            </a:r>
            <a:r>
              <a:rPr lang="en-US" sz="1500">
                <a:effectLst/>
                <a:ea typeface="DengXian" panose="02010600030101010101" pitchFamily="2" charset="-122"/>
              </a:rPr>
              <a:t>, A., &amp; </a:t>
            </a:r>
            <a:r>
              <a:rPr lang="en-US" sz="1500" err="1">
                <a:effectLst/>
                <a:ea typeface="DengXian" panose="02010600030101010101" pitchFamily="2" charset="-122"/>
              </a:rPr>
              <a:t>Kavathiya</a:t>
            </a:r>
            <a:r>
              <a:rPr lang="en-US" sz="1500">
                <a:effectLst/>
                <a:ea typeface="DengXian" panose="02010600030101010101" pitchFamily="2" charset="-122"/>
              </a:rPr>
              <a:t>, J. (2021). Old Car Price Prediction With Machine Learning. Int. Res. J. Mod. Eng. Technol. Sci, 3, 284-290. </a:t>
            </a:r>
            <a:endParaRPr lang="en-MY" sz="1500">
              <a:effectLst/>
              <a:ea typeface="DengXian" panose="02010600030101010101" pitchFamily="2" charset="-122"/>
            </a:endParaRPr>
          </a:p>
          <a:p>
            <a:pPr>
              <a:spcAft>
                <a:spcPts val="0"/>
              </a:spcAft>
            </a:pPr>
            <a:r>
              <a:rPr lang="en-US" sz="1500">
                <a:ea typeface="DengXian" panose="02010600030101010101" pitchFamily="2" charset="-122"/>
              </a:rPr>
              <a:t>Gupta, P., Kumar, P., Kumar, K., &amp; Singh, N. (2021). Comparative Analysis of Car Sales Using Supervised Algorithms. </a:t>
            </a:r>
          </a:p>
          <a:p>
            <a:pPr>
              <a:spcAft>
                <a:spcPts val="0"/>
              </a:spcAft>
            </a:pPr>
            <a:r>
              <a:rPr lang="en-US" sz="1500" err="1">
                <a:ea typeface="DengXian" panose="02010600030101010101" pitchFamily="2" charset="-122"/>
              </a:rPr>
              <a:t>Longani</a:t>
            </a:r>
            <a:r>
              <a:rPr lang="en-US" sz="1500">
                <a:ea typeface="DengXian" panose="02010600030101010101" pitchFamily="2" charset="-122"/>
              </a:rPr>
              <a:t>, C., Prasad </a:t>
            </a:r>
            <a:r>
              <a:rPr lang="en-US" sz="1500" err="1">
                <a:ea typeface="DengXian" panose="02010600030101010101" pitchFamily="2" charset="-122"/>
              </a:rPr>
              <a:t>Potharaju</a:t>
            </a:r>
            <a:r>
              <a:rPr lang="en-US" sz="1500">
                <a:ea typeface="DengXian" panose="02010600030101010101" pitchFamily="2" charset="-122"/>
              </a:rPr>
              <a:t>, S., &amp; </a:t>
            </a:r>
            <a:r>
              <a:rPr lang="en-US" sz="1500" err="1">
                <a:ea typeface="DengXian" panose="02010600030101010101" pitchFamily="2" charset="-122"/>
              </a:rPr>
              <a:t>Deore</a:t>
            </a:r>
            <a:r>
              <a:rPr lang="en-US" sz="1500">
                <a:ea typeface="DengXian" panose="02010600030101010101" pitchFamily="2" charset="-122"/>
              </a:rPr>
              <a:t>, S. (2021). Price Prediction for Pre-Owned Cars Using Ensemble Machine Learning Techniques. In Recent Trends in Intensive Computing (pp. 178-187): IOS Press.</a:t>
            </a:r>
          </a:p>
          <a:p>
            <a:pPr>
              <a:spcAft>
                <a:spcPts val="0"/>
              </a:spcAft>
            </a:pPr>
            <a:r>
              <a:rPr lang="en-US" sz="1500" err="1">
                <a:ea typeface="DengXian" panose="02010600030101010101" pitchFamily="2" charset="-122"/>
              </a:rPr>
              <a:t>Monburinon</a:t>
            </a:r>
            <a:r>
              <a:rPr lang="en-US" sz="1500">
                <a:ea typeface="DengXian" panose="02010600030101010101" pitchFamily="2" charset="-122"/>
              </a:rPr>
              <a:t>, N., </a:t>
            </a:r>
            <a:r>
              <a:rPr lang="en-US" sz="1500" err="1">
                <a:ea typeface="DengXian" panose="02010600030101010101" pitchFamily="2" charset="-122"/>
              </a:rPr>
              <a:t>Chertchom</a:t>
            </a:r>
            <a:r>
              <a:rPr lang="en-US" sz="1500">
                <a:ea typeface="DengXian" panose="02010600030101010101" pitchFamily="2" charset="-122"/>
              </a:rPr>
              <a:t>, P., </a:t>
            </a:r>
            <a:r>
              <a:rPr lang="en-US" sz="1500" err="1">
                <a:ea typeface="DengXian" panose="02010600030101010101" pitchFamily="2" charset="-122"/>
              </a:rPr>
              <a:t>Kaewkiriya</a:t>
            </a:r>
            <a:r>
              <a:rPr lang="en-US" sz="1500">
                <a:ea typeface="DengXian" panose="02010600030101010101" pitchFamily="2" charset="-122"/>
              </a:rPr>
              <a:t>, T., </a:t>
            </a:r>
            <a:r>
              <a:rPr lang="en-US" sz="1500" err="1">
                <a:ea typeface="DengXian" panose="02010600030101010101" pitchFamily="2" charset="-122"/>
              </a:rPr>
              <a:t>Rungpheung</a:t>
            </a:r>
            <a:r>
              <a:rPr lang="en-US" sz="1500">
                <a:ea typeface="DengXian" panose="02010600030101010101" pitchFamily="2" charset="-122"/>
              </a:rPr>
              <a:t>, S., </a:t>
            </a:r>
            <a:r>
              <a:rPr lang="en-US" sz="1500" err="1">
                <a:ea typeface="DengXian" panose="02010600030101010101" pitchFamily="2" charset="-122"/>
              </a:rPr>
              <a:t>Buya</a:t>
            </a:r>
            <a:r>
              <a:rPr lang="en-US" sz="1500">
                <a:ea typeface="DengXian" panose="02010600030101010101" pitchFamily="2" charset="-122"/>
              </a:rPr>
              <a:t>, S., &amp; </a:t>
            </a:r>
            <a:r>
              <a:rPr lang="en-US" sz="1500" err="1">
                <a:ea typeface="DengXian" panose="02010600030101010101" pitchFamily="2" charset="-122"/>
              </a:rPr>
              <a:t>Boonpou</a:t>
            </a:r>
            <a:r>
              <a:rPr lang="en-US" sz="1500">
                <a:ea typeface="DengXian" panose="02010600030101010101" pitchFamily="2" charset="-122"/>
              </a:rPr>
              <a:t>, P. (2018). Prediction of prices for used car by using regression models. Paper presented at the 2018 5th International Conference on Business and Industrial Research (ICBIR).</a:t>
            </a:r>
          </a:p>
          <a:p>
            <a:pPr>
              <a:spcAft>
                <a:spcPts val="0"/>
              </a:spcAft>
            </a:pPr>
            <a:r>
              <a:rPr lang="en-US" sz="1500" err="1">
                <a:ea typeface="DengXian" panose="02010600030101010101" pitchFamily="2" charset="-122"/>
              </a:rPr>
              <a:t>Venkatasubbu</a:t>
            </a:r>
            <a:r>
              <a:rPr lang="en-US" sz="1500">
                <a:ea typeface="DengXian" panose="02010600030101010101" pitchFamily="2" charset="-122"/>
              </a:rPr>
              <a:t>, P., &amp; Ganesh, M. (2019). Used Cars Price Prediction using Supervised Learning Techniques. Int. J. Eng. Adv. Technol.(IJEAT), 9(1S3). </a:t>
            </a:r>
          </a:p>
          <a:p>
            <a:pPr>
              <a:spcAft>
                <a:spcPts val="0"/>
              </a:spcAft>
            </a:pPr>
            <a:endParaRPr lang="en-US" sz="1500">
              <a:ea typeface="DengXian" panose="02010600030101010101" pitchFamily="2" charset="-122"/>
            </a:endParaRPr>
          </a:p>
          <a:p>
            <a:pPr>
              <a:spcAft>
                <a:spcPts val="0"/>
              </a:spcAft>
            </a:pPr>
            <a:endParaRPr lang="en-US" sz="1500">
              <a:ea typeface="DengXian" panose="02010600030101010101" pitchFamily="2" charset="-122"/>
            </a:endParaRPr>
          </a:p>
          <a:p>
            <a:pPr>
              <a:spcAft>
                <a:spcPts val="0"/>
              </a:spcAft>
            </a:pPr>
            <a:endParaRPr lang="en-US" sz="1500">
              <a:effectLst/>
              <a:ea typeface="DengXian" panose="02010600030101010101" pitchFamily="2" charset="-122"/>
            </a:endParaRPr>
          </a:p>
          <a:p>
            <a:pPr>
              <a:spcAft>
                <a:spcPts val="0"/>
              </a:spcAft>
            </a:pPr>
            <a:endParaRPr lang="en-US" sz="1500">
              <a:ea typeface="DengXian" panose="02010600030101010101" pitchFamily="2" charset="-122"/>
            </a:endParaRPr>
          </a:p>
          <a:p>
            <a:pPr>
              <a:spcAft>
                <a:spcPts val="0"/>
              </a:spcAft>
            </a:pPr>
            <a:endParaRPr lang="en-US" sz="1500">
              <a:effectLst/>
              <a:ea typeface="DengXian" panose="02010600030101010101" pitchFamily="2" charset="-122"/>
            </a:endParaRPr>
          </a:p>
          <a:p>
            <a:pPr>
              <a:spcAft>
                <a:spcPts val="0"/>
              </a:spcAft>
            </a:pPr>
            <a:endParaRPr lang="en-US" sz="1500">
              <a:ea typeface="DengXian" panose="02010600030101010101" pitchFamily="2" charset="-122"/>
            </a:endParaRPr>
          </a:p>
          <a:p>
            <a:pPr>
              <a:spcAft>
                <a:spcPts val="0"/>
              </a:spcAft>
            </a:pPr>
            <a:endParaRPr lang="en-MY" sz="1500">
              <a:effectLst/>
              <a:ea typeface="DengXian" panose="02010600030101010101" pitchFamily="2" charset="-122"/>
            </a:endParaRPr>
          </a:p>
          <a:p>
            <a:endParaRPr lang="en-MY" sz="1800">
              <a:effectLst/>
              <a:latin typeface="Calibri" panose="020F0502020204030204" pitchFamily="34" charset="0"/>
              <a:ea typeface="DengXian" panose="02010600030101010101" pitchFamily="2" charset="-122"/>
            </a:endParaRPr>
          </a:p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907F8-C614-4D59-A03F-BF9CD5E3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6F3814E-455F-456B-B1AF-7B993965A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339961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B2CD65E978D54E902F6102F6AC6045" ma:contentTypeVersion="6" ma:contentTypeDescription="Create a new document." ma:contentTypeScope="" ma:versionID="c1bf82861c6b450ed2affb7b19082958">
  <xsd:schema xmlns:xsd="http://www.w3.org/2001/XMLSchema" xmlns:xs="http://www.w3.org/2001/XMLSchema" xmlns:p="http://schemas.microsoft.com/office/2006/metadata/properties" xmlns:ns2="cadff36f-3e83-43c0-ba50-bff83cb6b477" targetNamespace="http://schemas.microsoft.com/office/2006/metadata/properties" ma:root="true" ma:fieldsID="2851e665f881fa522683e00505817623" ns2:_="">
    <xsd:import namespace="cadff36f-3e83-43c0-ba50-bff83cb6b4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dff36f-3e83-43c0-ba50-bff83cb6b4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cadff36f-3e83-43c0-ba50-bff83cb6b47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EFAC87-3722-436D-A28E-7C03D6316E89}">
  <ds:schemaRefs>
    <ds:schemaRef ds:uri="cadff36f-3e83-43c0-ba50-bff83cb6b4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0811A92-D464-4AC4-A396-BA73B10CEEAC}">
  <ds:schemaRefs>
    <ds:schemaRef ds:uri="cadff36f-3e83-43c0-ba50-bff83cb6b47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{BBDC0396-0C7C-4D24-8F58-FA3EC86A2B5D}tf33713516_win32</Template>
  <Application>Microsoft Office PowerPoint</Application>
  <PresentationFormat>Widescreen</PresentationFormat>
  <Slides>16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3DFloatVTI</vt:lpstr>
      <vt:lpstr>Used Car Price Prediction using Machine Learning</vt:lpstr>
      <vt:lpstr>Background</vt:lpstr>
      <vt:lpstr>Problem Statement</vt:lpstr>
      <vt:lpstr>Research Objective</vt:lpstr>
      <vt:lpstr>Literature Review</vt:lpstr>
      <vt:lpstr>Types of Algorithms used in Past Studies</vt:lpstr>
      <vt:lpstr>Methodology</vt:lpstr>
      <vt:lpstr>Data Preprocessing flowchart</vt:lpstr>
      <vt:lpstr>Modeling and model evaluation flowchart</vt:lpstr>
      <vt:lpstr>Tools</vt:lpstr>
      <vt:lpstr>Data Preprocessing</vt:lpstr>
      <vt:lpstr>Hyperparameter Tuning</vt:lpstr>
      <vt:lpstr>Algorithms &amp; Results</vt:lpstr>
      <vt:lpstr>Summary</vt:lpstr>
      <vt:lpstr>Thank You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Yi Lun Khor</dc:creator>
  <cp:revision>1</cp:revision>
  <dcterms:created xsi:type="dcterms:W3CDTF">2022-06-12T07:17:02Z</dcterms:created>
  <dcterms:modified xsi:type="dcterms:W3CDTF">2022-06-13T11:24:14Z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0x010100E7B2CD65E978D54E902F6102F6AC6045</vt:lpwstr>
  </property>
</Properties>
</file>